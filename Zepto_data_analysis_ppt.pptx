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197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38160" y="-822960"/>
            <a:ext cx="4663440" cy="3657600"/>
          </a:xfrm>
          <a:prstGeom prst="ellipse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005840" y="5486400"/>
            <a:ext cx="3474720" cy="1828800"/>
          </a:xfrm>
          <a:prstGeom prst="ellipse">
            <a:avLst/>
          </a:prstGeom>
          <a:solidFill>
            <a:srgbClr val="FFE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zepto_logo_light_theme.png"/>
          <p:cNvPicPr>
            <a:picLocks noChangeAspect="1"/>
          </p:cNvPicPr>
          <p:nvPr/>
        </p:nvPicPr>
        <p:blipFill>
          <a:blip r:embed="rId2"/>
          <a:srcRect l="9343" t="8587" r="13046" b="8587"/>
          <a:stretch>
            <a:fillRect/>
          </a:stretch>
        </p:blipFill>
        <p:spPr>
          <a:xfrm>
            <a:off x="640080" y="438912"/>
            <a:ext cx="150876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" y="1161288"/>
            <a:ext cx="283464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 dirty="0">
                <a:solidFill>
                  <a:srgbClr val="E72380"/>
                </a:solidFill>
                <a:latin typeface="Aptos"/>
              </a:rPr>
              <a:t>DATA ANALYST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27048"/>
            <a:ext cx="5577840" cy="1234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4200" b="1" i="0">
                <a:solidFill>
                  <a:srgbClr val="1C1452"/>
                </a:solidFill>
                <a:latin typeface="Aptos"/>
              </a:rPr>
              <a:t>Zepto Data
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944368"/>
            <a:ext cx="54864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635E7E"/>
                </a:solidFill>
                <a:latin typeface="Aptos"/>
              </a:rPr>
              <a:t>Turning product data into pricing, value &amp; inventory intelligence.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3767328"/>
            <a:ext cx="896112" cy="329184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3813048"/>
            <a:ext cx="804672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6930A0"/>
                </a:solidFill>
                <a:latin typeface="Aptos"/>
              </a:rPr>
              <a:t>MYSQL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09928" y="3767328"/>
            <a:ext cx="1325880" cy="329184"/>
          </a:xfrm>
          <a:prstGeom prst="roundRect">
            <a:avLst/>
          </a:prstGeom>
          <a:solidFill>
            <a:srgbClr val="FFE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55648" y="3813048"/>
            <a:ext cx="1234439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E72380"/>
                </a:solidFill>
                <a:latin typeface="Aptos"/>
              </a:rPr>
              <a:t>SQL ANALYTICS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3767328"/>
            <a:ext cx="1600200" cy="329184"/>
          </a:xfrm>
          <a:prstGeom prst="roundRect">
            <a:avLst/>
          </a:prstGeom>
          <a:solidFill>
            <a:srgbClr val="E7F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0" y="3813048"/>
            <a:ext cx="150876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6930A0"/>
                </a:solidFill>
                <a:latin typeface="Aptos"/>
              </a:rPr>
              <a:t>BUSINESS INSIGHTS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71231" y="1828800"/>
            <a:ext cx="3310128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79" y="2221992"/>
            <a:ext cx="25603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C1452"/>
                </a:solidFill>
                <a:latin typeface="Aptos"/>
              </a:rPr>
              <a:t>RAJ SINGH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660904"/>
            <a:ext cx="25603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E72380"/>
                </a:solidFill>
                <a:latin typeface="Aptos"/>
              </a:rPr>
              <a:t>DATA ANALYST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6992" y="3246120"/>
            <a:ext cx="2606040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6930A0"/>
                </a:solidFill>
                <a:latin typeface="Aptos"/>
              </a:rPr>
              <a:t>Explore  →  Clean
Standardize  →  Analyze
Prioritize  →  Explain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4352544"/>
            <a:ext cx="1783080" cy="329184"/>
          </a:xfrm>
          <a:prstGeom prst="roundRect">
            <a:avLst/>
          </a:prstGeom>
          <a:solidFill>
            <a:srgbClr val="BCE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4398264"/>
            <a:ext cx="1691639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1C1452"/>
                </a:solidFill>
                <a:latin typeface="Aptos"/>
              </a:rPr>
              <a:t>Portfolio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0816" y="6428232"/>
            <a:ext cx="43891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35E7E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28600"/>
            <a:ext cx="338328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E72380"/>
                </a:solidFill>
                <a:latin typeface="Aptos"/>
              </a:rPr>
              <a:t>01 •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96012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C1452"/>
                </a:solidFill>
                <a:latin typeface="Aptos"/>
              </a:rPr>
              <a:t>The problem I set out to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33856"/>
            <a:ext cx="96012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35E7E"/>
                </a:solidFill>
                <a:latin typeface="Aptos"/>
              </a:rPr>
              <a:t>Use SQL to turn a grocery product catalog into decision-ready analysis.</a:t>
            </a:r>
          </a:p>
        </p:txBody>
      </p:sp>
      <p:pic>
        <p:nvPicPr>
          <p:cNvPr id="5" name="Picture 4" descr="zepto_logo_light_theme.png"/>
          <p:cNvPicPr>
            <a:picLocks noChangeAspect="1"/>
          </p:cNvPicPr>
          <p:nvPr/>
        </p:nvPicPr>
        <p:blipFill>
          <a:blip r:embed="rId2"/>
          <a:srcRect l="6561" r="14652"/>
          <a:stretch>
            <a:fillRect/>
          </a:stretch>
        </p:blipFill>
        <p:spPr>
          <a:xfrm>
            <a:off x="10716768" y="182880"/>
            <a:ext cx="936000" cy="4364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00816" y="6428232"/>
            <a:ext cx="43891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35E7E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65379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984248"/>
            <a:ext cx="1828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E72380"/>
                </a:solidFill>
                <a:latin typeface="Aptos"/>
              </a:rPr>
              <a:t>BUSINESS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95728"/>
            <a:ext cx="53949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C1452"/>
                </a:solidFill>
                <a:latin typeface="Aptos"/>
              </a:rPr>
              <a:t>A quick-commerce catalog creates everyday questions around: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880360"/>
            <a:ext cx="310896" cy="310896"/>
          </a:xfrm>
          <a:prstGeom prst="ellipse">
            <a:avLst/>
          </a:prstGeom>
          <a:solidFill>
            <a:srgbClr val="E7F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889503"/>
            <a:ext cx="31089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6930A0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889503"/>
            <a:ext cx="52120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20" b="1" i="0">
                <a:solidFill>
                  <a:srgbClr val="635E7E"/>
                </a:solidFill>
                <a:latin typeface="Aptos"/>
              </a:rPr>
              <a:t>Which categories carry the deepest assortment?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3392424"/>
            <a:ext cx="310896" cy="310896"/>
          </a:xfrm>
          <a:prstGeom prst="ellipse">
            <a:avLst/>
          </a:prstGeom>
          <a:solidFill>
            <a:srgbClr val="E7F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3401568"/>
            <a:ext cx="31089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6930A0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401568"/>
            <a:ext cx="52120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20" b="1" i="0">
                <a:solidFill>
                  <a:srgbClr val="635E7E"/>
                </a:solidFill>
                <a:latin typeface="Aptos"/>
              </a:rPr>
              <a:t>Where are discounts strongest or weakest?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3904487"/>
            <a:ext cx="310896" cy="310896"/>
          </a:xfrm>
          <a:prstGeom prst="ellipse">
            <a:avLst/>
          </a:prstGeom>
          <a:solidFill>
            <a:srgbClr val="E7F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913631"/>
            <a:ext cx="31089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6930A0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3913631"/>
            <a:ext cx="52120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20" b="1" i="0">
                <a:solidFill>
                  <a:srgbClr val="635E7E"/>
                </a:solidFill>
                <a:latin typeface="Aptos"/>
              </a:rPr>
              <a:t>Which products offer better normalized value?</a:t>
            </a:r>
          </a:p>
        </p:txBody>
      </p:sp>
      <p:sp>
        <p:nvSpPr>
          <p:cNvPr id="19" name="Oval 18"/>
          <p:cNvSpPr/>
          <p:nvPr/>
        </p:nvSpPr>
        <p:spPr>
          <a:xfrm>
            <a:off x="932688" y="4416552"/>
            <a:ext cx="310896" cy="310896"/>
          </a:xfrm>
          <a:prstGeom prst="ellipse">
            <a:avLst/>
          </a:prstGeom>
          <a:solidFill>
            <a:srgbClr val="E7F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4425696"/>
            <a:ext cx="31089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6930A0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4425696"/>
            <a:ext cx="52120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20" b="1" i="0">
                <a:solidFill>
                  <a:srgbClr val="635E7E"/>
                </a:solidFill>
                <a:latin typeface="Aptos"/>
              </a:rPr>
              <a:t>Where is inventory exposure concentrated?</a:t>
            </a:r>
          </a:p>
        </p:txBody>
      </p:sp>
      <p:sp>
        <p:nvSpPr>
          <p:cNvPr id="22" name="Oval 21"/>
          <p:cNvSpPr/>
          <p:nvPr/>
        </p:nvSpPr>
        <p:spPr>
          <a:xfrm>
            <a:off x="932688" y="4928616"/>
            <a:ext cx="310896" cy="310896"/>
          </a:xfrm>
          <a:prstGeom prst="ellipse">
            <a:avLst/>
          </a:prstGeom>
          <a:solidFill>
            <a:srgbClr val="E7F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4937760"/>
            <a:ext cx="31089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6930A0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4937760"/>
            <a:ext cx="52120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20" b="1" i="0">
                <a:solidFill>
                  <a:srgbClr val="635E7E"/>
                </a:solidFill>
                <a:latin typeface="Aptos"/>
              </a:rPr>
              <a:t>Which categories combine pricing pressure with stockout risk?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9792" y="1691640"/>
            <a:ext cx="3657600" cy="4251960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0" y="1984248"/>
            <a:ext cx="1828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E72380"/>
                </a:solidFill>
                <a:latin typeface="Aptos"/>
              </a:rPr>
              <a:t>PROJECT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395728"/>
            <a:ext cx="25603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C1452"/>
                </a:solidFill>
                <a:latin typeface="Aptos"/>
              </a:rPr>
              <a:t>One analytical 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63240"/>
            <a:ext cx="24688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6930A0"/>
                </a:solidFill>
                <a:latin typeface="Aptos"/>
              </a:rPr>
              <a:t>Raw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3337560"/>
            <a:ext cx="3657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E72380"/>
                </a:solidFill>
                <a:latin typeface="Aptos"/>
              </a:rPr>
              <a:t>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3685032"/>
            <a:ext cx="24688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6930A0"/>
                </a:solidFill>
                <a:latin typeface="Aptos"/>
              </a:rPr>
              <a:t>Validated metrics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3959352"/>
            <a:ext cx="3657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E72380"/>
                </a:solidFill>
                <a:latin typeface="Aptos"/>
              </a:rPr>
              <a:t>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306824"/>
            <a:ext cx="24688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6930A0"/>
                </a:solidFill>
                <a:latin typeface="Aptos"/>
              </a:rPr>
              <a:t>Business insights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4581144"/>
            <a:ext cx="3657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E72380"/>
                </a:solidFill>
                <a:latin typeface="Aptos"/>
              </a:rPr>
              <a:t>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928616"/>
            <a:ext cx="24688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6930A0"/>
                </a:solidFill>
                <a:latin typeface="Aptos"/>
              </a:rPr>
              <a:t>Strategic lens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5367528"/>
            <a:ext cx="2011680" cy="329184"/>
          </a:xfrm>
          <a:prstGeom prst="roundRect">
            <a:avLst/>
          </a:prstGeom>
          <a:solidFill>
            <a:srgbClr val="FFE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18120" y="5413248"/>
            <a:ext cx="192024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E72380"/>
                </a:solidFill>
                <a:latin typeface="Aptos"/>
              </a:rPr>
              <a:t>SQL + Business Thinking</a:t>
            </a:r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28600"/>
            <a:ext cx="338328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E72380"/>
                </a:solidFill>
                <a:latin typeface="Aptos"/>
              </a:rPr>
              <a:t>02 •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96012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C1452"/>
                </a:solidFill>
                <a:latin typeface="Aptos"/>
              </a:rPr>
              <a:t>A compact dataset with multiple analytical lenses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0816" y="6428232"/>
            <a:ext cx="43891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35E7E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2331720" cy="1417320"/>
          </a:xfrm>
          <a:prstGeom prst="roundRect">
            <a:avLst/>
          </a:prstGeom>
          <a:solidFill>
            <a:srgbClr val="F1EA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64008" cy="1417320"/>
          </a:xfrm>
          <a:prstGeom prst="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847088"/>
            <a:ext cx="196596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C1452"/>
                </a:solidFill>
                <a:latin typeface="Aptos"/>
              </a:rPr>
              <a:t>3,723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59152"/>
            <a:ext cx="19659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635E7E"/>
                </a:solidFill>
                <a:latin typeface="Aptos"/>
              </a:rPr>
              <a:t>Final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691640"/>
            <a:ext cx="2331720" cy="1417320"/>
          </a:xfrm>
          <a:prstGeom prst="roundRect">
            <a:avLst/>
          </a:prstGeom>
          <a:solidFill>
            <a:srgbClr val="FFE5E6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0" y="1691640"/>
            <a:ext cx="64008" cy="1417320"/>
          </a:xfrm>
          <a:prstGeom prst="rect">
            <a:avLst/>
          </a:prstGeom>
          <a:solidFill>
            <a:srgbClr val="69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1847088"/>
            <a:ext cx="196596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C1452"/>
                </a:solidFill>
                <a:latin typeface="Aptos"/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359152"/>
            <a:ext cx="19659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635E7E"/>
                </a:solidFill>
                <a:latin typeface="Aptos"/>
              </a:rPr>
              <a:t>Categories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42432" y="1691640"/>
            <a:ext cx="2331720" cy="1417320"/>
          </a:xfrm>
          <a:prstGeom prst="roundRect">
            <a:avLst/>
          </a:prstGeom>
          <a:solidFill>
            <a:srgbClr val="E7F9E2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42432" y="1691640"/>
            <a:ext cx="64008" cy="1417320"/>
          </a:xfrm>
          <a:prstGeom prst="rect">
            <a:avLst/>
          </a:prstGeom>
          <a:solidFill>
            <a:srgbClr val="69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25312" y="1847088"/>
            <a:ext cx="196596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C1452"/>
                </a:solidFill>
                <a:latin typeface="Aptos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5312" y="2359152"/>
            <a:ext cx="19659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635E7E"/>
                </a:solidFill>
                <a:latin typeface="Aptos"/>
              </a:rPr>
              <a:t>Core columns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4464" y="169164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84464" y="1691640"/>
            <a:ext cx="64008" cy="1417320"/>
          </a:xfrm>
          <a:prstGeom prst="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67344" y="1847088"/>
            <a:ext cx="196596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C1452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2359152"/>
            <a:ext cx="19659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635E7E"/>
                </a:solidFill>
                <a:latin typeface="Aptos"/>
              </a:rPr>
              <a:t>Exact duplicate rows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474720"/>
            <a:ext cx="1188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E72380"/>
                </a:solidFill>
                <a:latin typeface="Aptos"/>
              </a:rPr>
              <a:t>FIELD MAP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886200"/>
            <a:ext cx="4983480" cy="731520"/>
          </a:xfrm>
          <a:prstGeom prst="roundRect">
            <a:avLst/>
          </a:prstGeom>
          <a:solidFill>
            <a:srgbClr val="F1EA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7824" y="4050791"/>
            <a:ext cx="454456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C1452"/>
                </a:solidFill>
                <a:latin typeface="Aptos"/>
              </a:rPr>
              <a:t>Product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265321"/>
            <a:ext cx="4544568" cy="731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70" b="0" i="0" dirty="0">
                <a:solidFill>
                  <a:srgbClr val="635E7E"/>
                </a:solidFill>
                <a:latin typeface="Aptos"/>
              </a:rPr>
              <a:t>SKU • name • category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" y="4507992"/>
            <a:ext cx="960120" cy="54864"/>
          </a:xfrm>
          <a:prstGeom prst="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144768" y="3886200"/>
            <a:ext cx="4983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64224" y="4050791"/>
            <a:ext cx="454456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C1452"/>
                </a:solidFill>
                <a:latin typeface="Aptos"/>
              </a:rPr>
              <a:t>Pricing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4275874"/>
            <a:ext cx="4544568" cy="731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70" b="0" i="0" dirty="0">
                <a:solidFill>
                  <a:srgbClr val="635E7E"/>
                </a:solidFill>
                <a:latin typeface="Aptos"/>
              </a:rPr>
              <a:t>MRP • selling price • discount 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4224" y="4507992"/>
            <a:ext cx="960120" cy="54864"/>
          </a:xfrm>
          <a:prstGeom prst="rect">
            <a:avLst/>
          </a:prstGeom>
          <a:solidFill>
            <a:srgbClr val="69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58368" y="4800600"/>
            <a:ext cx="4983480" cy="731520"/>
          </a:xfrm>
          <a:prstGeom prst="roundRect">
            <a:avLst/>
          </a:prstGeom>
          <a:solidFill>
            <a:srgbClr val="F1EA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7824" y="4965192"/>
            <a:ext cx="454456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C1452"/>
                </a:solidFill>
                <a:latin typeface="Aptos"/>
              </a:rPr>
              <a:t>Inventory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" y="5171987"/>
            <a:ext cx="4544568" cy="731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70" b="0" i="0" dirty="0">
                <a:solidFill>
                  <a:srgbClr val="635E7E"/>
                </a:solidFill>
                <a:latin typeface="Aptos"/>
              </a:rPr>
              <a:t>available quantity • stock status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" y="5422392"/>
            <a:ext cx="960120" cy="54864"/>
          </a:xfrm>
          <a:prstGeom prst="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144768" y="4800600"/>
            <a:ext cx="4983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64224" y="4965192"/>
            <a:ext cx="454456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C1452"/>
                </a:solidFill>
                <a:latin typeface="Aptos"/>
              </a:rPr>
              <a:t>Attributes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64224" y="5166360"/>
            <a:ext cx="4544568" cy="731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70" b="0" i="0" dirty="0">
                <a:solidFill>
                  <a:srgbClr val="635E7E"/>
                </a:solidFill>
                <a:latin typeface="Aptos"/>
              </a:rPr>
              <a:t>weight • quantity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64224" y="5422392"/>
            <a:ext cx="960120" cy="54864"/>
          </a:xfrm>
          <a:prstGeom prst="rect">
            <a:avLst/>
          </a:prstGeom>
          <a:solidFill>
            <a:srgbClr val="69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zepto_logo_light_theme.png">
            <a:extLst>
              <a:ext uri="{FF2B5EF4-FFF2-40B4-BE49-F238E27FC236}">
                <a16:creationId xmlns:a16="http://schemas.microsoft.com/office/drawing/2014/main" id="{861AC3A5-8E5C-F8B5-BE27-717DB2F4C5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61" r="14652"/>
          <a:stretch>
            <a:fillRect/>
          </a:stretch>
        </p:blipFill>
        <p:spPr>
          <a:xfrm>
            <a:off x="10716768" y="182880"/>
            <a:ext cx="936000" cy="43641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28600"/>
            <a:ext cx="338328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E72380"/>
                </a:solidFill>
                <a:latin typeface="Aptos"/>
              </a:rPr>
              <a:t>02 •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96012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C1452"/>
                </a:solidFill>
                <a:latin typeface="Aptos"/>
              </a:rPr>
              <a:t>Five moves from raw data to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0816" y="6428232"/>
            <a:ext cx="43891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35E7E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1828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25295" y="2395728"/>
            <a:ext cx="658368" cy="658368"/>
          </a:xfrm>
          <a:prstGeom prst="ellipse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25295" y="2587752"/>
            <a:ext cx="65836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6930A0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273552"/>
            <a:ext cx="15544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50" b="1" i="0">
                <a:solidFill>
                  <a:srgbClr val="1C1452"/>
                </a:solidFill>
                <a:latin typeface="Aptos"/>
              </a:rPr>
              <a:t>EXPLORE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639312"/>
            <a:ext cx="155448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 i="0" dirty="0">
                <a:solidFill>
                  <a:srgbClr val="635E7E"/>
                </a:solidFill>
                <a:latin typeface="Aptos"/>
              </a:rPr>
              <a:t>Structure &amp; distributions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87168" y="3246120"/>
            <a:ext cx="393192" cy="0"/>
          </a:xfrm>
          <a:prstGeom prst="line">
            <a:avLst/>
          </a:prstGeom>
          <a:ln w="38100">
            <a:solidFill>
              <a:srgbClr val="E723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98648" y="2148840"/>
            <a:ext cx="1828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465576" y="2395728"/>
            <a:ext cx="658368" cy="658368"/>
          </a:xfrm>
          <a:prstGeom prst="ellipse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65576" y="2587752"/>
            <a:ext cx="65836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6930A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3273552"/>
            <a:ext cx="15544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50" b="1" i="0">
                <a:solidFill>
                  <a:srgbClr val="1C1452"/>
                </a:solidFill>
                <a:latin typeface="Aptos"/>
              </a:rPr>
              <a:t>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639312"/>
            <a:ext cx="155448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 i="0" dirty="0">
                <a:solidFill>
                  <a:srgbClr val="635E7E"/>
                </a:solidFill>
                <a:latin typeface="Aptos"/>
              </a:rPr>
              <a:t>Nulls, duplicates, invalids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27448" y="3246120"/>
            <a:ext cx="393192" cy="0"/>
          </a:xfrm>
          <a:prstGeom prst="line">
            <a:avLst/>
          </a:prstGeom>
          <a:ln w="38100">
            <a:solidFill>
              <a:srgbClr val="E723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38928" y="2148840"/>
            <a:ext cx="1828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05856" y="2395728"/>
            <a:ext cx="658368" cy="658368"/>
          </a:xfrm>
          <a:prstGeom prst="ellipse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05856" y="2587752"/>
            <a:ext cx="65836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6930A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3273552"/>
            <a:ext cx="15544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50" b="1" i="0">
                <a:solidFill>
                  <a:srgbClr val="1C1452"/>
                </a:solidFill>
                <a:latin typeface="Aptos"/>
              </a:rPr>
              <a:t>STANDARDIZE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3639312"/>
            <a:ext cx="1554480" cy="18312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 i="0" dirty="0">
                <a:solidFill>
                  <a:srgbClr val="635E7E"/>
                </a:solidFill>
                <a:latin typeface="Aptos"/>
              </a:rPr>
              <a:t>Paise → ₹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67728" y="3246120"/>
            <a:ext cx="393192" cy="0"/>
          </a:xfrm>
          <a:prstGeom prst="line">
            <a:avLst/>
          </a:prstGeom>
          <a:ln w="38100">
            <a:solidFill>
              <a:srgbClr val="E723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79208" y="2148840"/>
            <a:ext cx="1828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946136" y="2395728"/>
            <a:ext cx="658368" cy="658368"/>
          </a:xfrm>
          <a:prstGeom prst="ellipse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46136" y="2587752"/>
            <a:ext cx="65836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6930A0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8" y="3273552"/>
            <a:ext cx="15544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50" b="1" i="0">
                <a:solidFill>
                  <a:srgbClr val="1C1452"/>
                </a:solidFill>
                <a:latin typeface="Aptos"/>
              </a:rPr>
              <a:t>ANALYZE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639312"/>
            <a:ext cx="155448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 i="0" dirty="0">
                <a:solidFill>
                  <a:srgbClr val="635E7E"/>
                </a:solidFill>
                <a:latin typeface="Aptos"/>
              </a:rPr>
              <a:t>Price, </a:t>
            </a:r>
            <a:r>
              <a:rPr sz="1000" b="1" i="0" dirty="0">
                <a:solidFill>
                  <a:srgbClr val="635E7E"/>
                </a:solidFill>
                <a:latin typeface="Aptos"/>
              </a:rPr>
              <a:t>value</a:t>
            </a:r>
            <a:r>
              <a:rPr sz="950" b="1" i="0" dirty="0">
                <a:solidFill>
                  <a:srgbClr val="635E7E"/>
                </a:solidFill>
                <a:latin typeface="Aptos"/>
              </a:rPr>
              <a:t>, inventory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08008" y="3246120"/>
            <a:ext cx="393192" cy="0"/>
          </a:xfrm>
          <a:prstGeom prst="line">
            <a:avLst/>
          </a:prstGeom>
          <a:ln w="38100">
            <a:solidFill>
              <a:srgbClr val="E723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9488" y="2148840"/>
            <a:ext cx="1828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186416" y="2395728"/>
            <a:ext cx="658368" cy="658368"/>
          </a:xfrm>
          <a:prstGeom prst="ellipse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186416" y="2587752"/>
            <a:ext cx="65836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6930A0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6648" y="3273552"/>
            <a:ext cx="15544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50" b="1" i="0">
                <a:solidFill>
                  <a:srgbClr val="1C1452"/>
                </a:solidFill>
                <a:latin typeface="Aptos"/>
              </a:rPr>
              <a:t>PRIORITIZE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6648" y="3639312"/>
            <a:ext cx="155448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 i="0" dirty="0">
                <a:solidFill>
                  <a:srgbClr val="635E7E"/>
                </a:solidFill>
                <a:latin typeface="Aptos"/>
              </a:rPr>
              <a:t>Benchmarks</a:t>
            </a:r>
            <a:r>
              <a:rPr sz="950" b="1" i="0" dirty="0">
                <a:solidFill>
                  <a:srgbClr val="635E7E"/>
                </a:solidFill>
                <a:latin typeface="Aptos"/>
              </a:rPr>
              <a:t> &amp; segments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" y="4892040"/>
            <a:ext cx="10378440" cy="658368"/>
          </a:xfrm>
          <a:prstGeom prst="roundRect">
            <a:avLst/>
          </a:prstGeom>
          <a:solidFill>
            <a:srgbClr val="FFE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0120" y="5093208"/>
            <a:ext cx="98755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E72380"/>
                </a:solidFill>
                <a:latin typeface="Aptos"/>
              </a:rPr>
              <a:t>The key design choice: clean first, then build every insight on standardized metrics.</a:t>
            </a:r>
          </a:p>
        </p:txBody>
      </p:sp>
      <p:pic>
        <p:nvPicPr>
          <p:cNvPr id="38" name="Picture 37" descr="zepto_logo_light_theme.png">
            <a:extLst>
              <a:ext uri="{FF2B5EF4-FFF2-40B4-BE49-F238E27FC236}">
                <a16:creationId xmlns:a16="http://schemas.microsoft.com/office/drawing/2014/main" id="{C448FB5C-0388-3D4E-261E-4FD73A2C52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61" r="14652"/>
          <a:stretch>
            <a:fillRect/>
          </a:stretch>
        </p:blipFill>
        <p:spPr>
          <a:xfrm>
            <a:off x="10716768" y="182880"/>
            <a:ext cx="936000" cy="43641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28600"/>
            <a:ext cx="338328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E72380"/>
                </a:solidFill>
                <a:latin typeface="Aptos"/>
              </a:rPr>
              <a:t>03 • EXECUTIVE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96012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C1452"/>
                </a:solidFill>
                <a:latin typeface="Aptos"/>
              </a:rPr>
              <a:t>Seven numbers frame the entire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0816" y="6428232"/>
            <a:ext cx="43891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35E7E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2240280" cy="1188720"/>
          </a:xfrm>
          <a:prstGeom prst="roundRect">
            <a:avLst/>
          </a:prstGeom>
          <a:solidFill>
            <a:srgbClr val="F1EA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554480"/>
            <a:ext cx="64008" cy="1188720"/>
          </a:xfrm>
          <a:prstGeom prst="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709928"/>
            <a:ext cx="187452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C1452"/>
                </a:solidFill>
                <a:latin typeface="Aptos"/>
              </a:rPr>
              <a:t>3,723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21991"/>
            <a:ext cx="18745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 dirty="0">
                <a:solidFill>
                  <a:srgbClr val="635E7E"/>
                </a:solidFill>
                <a:latin typeface="Aptos"/>
              </a:rPr>
              <a:t>Final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81528" y="1554480"/>
            <a:ext cx="2240280" cy="1188720"/>
          </a:xfrm>
          <a:prstGeom prst="roundRect">
            <a:avLst/>
          </a:prstGeom>
          <a:solidFill>
            <a:srgbClr val="FFE5E6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081528" y="1554480"/>
            <a:ext cx="64008" cy="1188720"/>
          </a:xfrm>
          <a:prstGeom prst="rect">
            <a:avLst/>
          </a:prstGeom>
          <a:solidFill>
            <a:srgbClr val="69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64408" y="1709928"/>
            <a:ext cx="187452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C1452"/>
                </a:solidFill>
                <a:latin typeface="Aptos"/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4408" y="2221991"/>
            <a:ext cx="18745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 dirty="0">
                <a:solidFill>
                  <a:srgbClr val="635E7E"/>
                </a:solidFill>
                <a:latin typeface="Aptos"/>
              </a:rPr>
              <a:t>Categories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04688" y="1554480"/>
            <a:ext cx="2240280" cy="1188720"/>
          </a:xfrm>
          <a:prstGeom prst="roundRect">
            <a:avLst/>
          </a:prstGeom>
          <a:solidFill>
            <a:srgbClr val="E7F9E2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504688" y="1554480"/>
            <a:ext cx="64008" cy="1188720"/>
          </a:xfrm>
          <a:prstGeom prst="rect">
            <a:avLst/>
          </a:prstGeom>
          <a:solidFill>
            <a:srgbClr val="69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87568" y="1709928"/>
            <a:ext cx="187452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C1452"/>
                </a:solidFill>
                <a:latin typeface="Aptos"/>
              </a:rPr>
              <a:t>₹156.90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221991"/>
            <a:ext cx="18745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 dirty="0">
                <a:solidFill>
                  <a:srgbClr val="635E7E"/>
                </a:solidFill>
                <a:latin typeface="Aptos"/>
              </a:rPr>
              <a:t>Avg MRP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27848" y="1554480"/>
            <a:ext cx="22402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27848" y="1554480"/>
            <a:ext cx="64008" cy="1188720"/>
          </a:xfrm>
          <a:prstGeom prst="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10727" y="1709928"/>
            <a:ext cx="187452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C1452"/>
                </a:solidFill>
                <a:latin typeface="Aptos"/>
              </a:rPr>
              <a:t>₹142.01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0727" y="2221991"/>
            <a:ext cx="18745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 dirty="0">
                <a:solidFill>
                  <a:srgbClr val="635E7E"/>
                </a:solidFill>
                <a:latin typeface="Aptos"/>
              </a:rPr>
              <a:t>Avg selling price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74519" y="3154680"/>
            <a:ext cx="2240280" cy="1188720"/>
          </a:xfrm>
          <a:prstGeom prst="roundRect">
            <a:avLst/>
          </a:prstGeom>
          <a:solidFill>
            <a:srgbClr val="F1EA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874519" y="3154680"/>
            <a:ext cx="64008" cy="1188720"/>
          </a:xfrm>
          <a:prstGeom prst="rect">
            <a:avLst/>
          </a:prstGeom>
          <a:solidFill>
            <a:srgbClr val="69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057400" y="3310128"/>
            <a:ext cx="187452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C1452"/>
                </a:solidFill>
                <a:latin typeface="Aptos"/>
              </a:rPr>
              <a:t>7.63%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3822191"/>
            <a:ext cx="18745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 dirty="0">
                <a:solidFill>
                  <a:srgbClr val="635E7E"/>
                </a:solidFill>
                <a:latin typeface="Aptos"/>
              </a:rPr>
              <a:t>Avg discount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154680"/>
            <a:ext cx="2240280" cy="1188720"/>
          </a:xfrm>
          <a:prstGeom prst="roundRect">
            <a:avLst/>
          </a:prstGeom>
          <a:solidFill>
            <a:srgbClr val="FFE5E6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97680" y="3154680"/>
            <a:ext cx="64008" cy="1188720"/>
          </a:xfrm>
          <a:prstGeom prst="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80560" y="3310128"/>
            <a:ext cx="187452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C1452"/>
                </a:solidFill>
                <a:latin typeface="Aptos"/>
              </a:rPr>
              <a:t>₹14.89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3822191"/>
            <a:ext cx="18745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 dirty="0">
                <a:solidFill>
                  <a:srgbClr val="635E7E"/>
                </a:solidFill>
                <a:latin typeface="Aptos"/>
              </a:rPr>
              <a:t>Avg customer savings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20840" y="3154680"/>
            <a:ext cx="2240280" cy="1188720"/>
          </a:xfrm>
          <a:prstGeom prst="roundRect">
            <a:avLst/>
          </a:prstGeom>
          <a:solidFill>
            <a:srgbClr val="E7F9E2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720840" y="3154680"/>
            <a:ext cx="64008" cy="1188720"/>
          </a:xfrm>
          <a:prstGeom prst="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03720" y="3310128"/>
            <a:ext cx="187452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C1452"/>
                </a:solidFill>
                <a:latin typeface="Aptos"/>
              </a:rPr>
              <a:t>12.17%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822191"/>
            <a:ext cx="18745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 dirty="0">
                <a:solidFill>
                  <a:srgbClr val="635E7E"/>
                </a:solidFill>
                <a:latin typeface="Aptos"/>
              </a:rPr>
              <a:t>OOS rate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47672" y="4498848"/>
            <a:ext cx="7013448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98848" y="6206633"/>
            <a:ext cx="128016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635E7E"/>
                </a:solidFill>
                <a:latin typeface="Aptos"/>
              </a:rPr>
              <a:t>Evidence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6737D99-72FE-68E6-FA40-70EAC547A7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95" t="87749" r="5000" b="-2939"/>
          <a:stretch>
            <a:fillRect/>
          </a:stretch>
        </p:blipFill>
        <p:spPr>
          <a:xfrm>
            <a:off x="2016000" y="5221964"/>
            <a:ext cx="6945120" cy="432000"/>
          </a:xfrm>
          <a:prstGeom prst="rect">
            <a:avLst/>
          </a:prstGeom>
        </p:spPr>
      </p:pic>
      <p:pic>
        <p:nvPicPr>
          <p:cNvPr id="37" name="Picture 36" descr="zepto_logo_light_theme.png">
            <a:extLst>
              <a:ext uri="{FF2B5EF4-FFF2-40B4-BE49-F238E27FC236}">
                <a16:creationId xmlns:a16="http://schemas.microsoft.com/office/drawing/2014/main" id="{5026B634-6AF3-51B0-5913-547BE39999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61" r="14652"/>
          <a:stretch>
            <a:fillRect/>
          </a:stretch>
        </p:blipFill>
        <p:spPr>
          <a:xfrm>
            <a:off x="10716768" y="182880"/>
            <a:ext cx="936000" cy="43641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28600"/>
            <a:ext cx="338328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E72380"/>
                </a:solidFill>
                <a:latin typeface="Aptos"/>
              </a:rPr>
              <a:t>03 •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96012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C1452"/>
                </a:solidFill>
                <a:latin typeface="Aptos"/>
              </a:rPr>
              <a:t>Before the insight, I validated the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0816" y="6428232"/>
            <a:ext cx="43891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35E7E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50292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86968" y="1911095"/>
            <a:ext cx="457200" cy="457200"/>
          </a:xfrm>
          <a:prstGeom prst="ellipse">
            <a:avLst/>
          </a:prstGeom>
          <a:solidFill>
            <a:srgbClr val="E7F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938528"/>
            <a:ext cx="45720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6930A0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47088"/>
            <a:ext cx="3749039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20" b="1" i="0">
                <a:solidFill>
                  <a:srgbClr val="1C1452"/>
                </a:solidFill>
                <a:latin typeface="Aptos"/>
              </a:rPr>
              <a:t>NULL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57984"/>
            <a:ext cx="3749039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 dirty="0">
                <a:solidFill>
                  <a:srgbClr val="635E7E"/>
                </a:solidFill>
                <a:latin typeface="Aptos"/>
              </a:rPr>
              <a:t>Validated completeness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691640"/>
            <a:ext cx="50292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373368" y="1911095"/>
            <a:ext cx="457200" cy="457200"/>
          </a:xfrm>
          <a:prstGeom prst="ellipse">
            <a:avLst/>
          </a:prstGeom>
          <a:solidFill>
            <a:srgbClr val="E7F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938528"/>
            <a:ext cx="45720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6930A0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79" y="1847088"/>
            <a:ext cx="3749039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20" b="1" i="0">
                <a:solidFill>
                  <a:srgbClr val="1C1452"/>
                </a:solidFill>
                <a:latin typeface="Aptos"/>
              </a:rPr>
              <a:t>Duplicate rows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79" y="2157984"/>
            <a:ext cx="3749039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 dirty="0">
                <a:solidFill>
                  <a:srgbClr val="635E7E"/>
                </a:solidFill>
                <a:latin typeface="Aptos"/>
              </a:rPr>
              <a:t>2 exact duplicates detected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834640"/>
            <a:ext cx="50292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86968" y="3054096"/>
            <a:ext cx="457200" cy="457200"/>
          </a:xfrm>
          <a:prstGeom prst="ellipse">
            <a:avLst/>
          </a:prstGeom>
          <a:solidFill>
            <a:srgbClr val="E7F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081528"/>
            <a:ext cx="45720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6930A0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990088"/>
            <a:ext cx="3749039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20" b="1" i="0">
                <a:solidFill>
                  <a:srgbClr val="1C1452"/>
                </a:solidFill>
                <a:latin typeface="Aptos"/>
              </a:rPr>
              <a:t>Price validity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300984"/>
            <a:ext cx="3749039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 dirty="0">
                <a:solidFill>
                  <a:srgbClr val="635E7E"/>
                </a:solidFill>
                <a:latin typeface="Aptos"/>
              </a:rPr>
              <a:t>Checked zero / invalid price values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2834640"/>
            <a:ext cx="50292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373368" y="3054096"/>
            <a:ext cx="457200" cy="457200"/>
          </a:xfrm>
          <a:prstGeom prst="ellipse">
            <a:avLst/>
          </a:prstGeom>
          <a:solidFill>
            <a:srgbClr val="E7F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3081528"/>
            <a:ext cx="45720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6930A0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79" y="2990088"/>
            <a:ext cx="3749039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20" b="1" i="0">
                <a:solidFill>
                  <a:srgbClr val="1C1452"/>
                </a:solidFill>
                <a:latin typeface="Aptos"/>
              </a:rPr>
              <a:t>Weight &amp; quantity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79" y="3300984"/>
            <a:ext cx="3749039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 dirty="0">
                <a:solidFill>
                  <a:srgbClr val="635E7E"/>
                </a:solidFill>
                <a:latin typeface="Aptos"/>
              </a:rPr>
              <a:t>Checked non-positive values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77639"/>
            <a:ext cx="50292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86968" y="4197096"/>
            <a:ext cx="457200" cy="457200"/>
          </a:xfrm>
          <a:prstGeom prst="ellipse">
            <a:avLst/>
          </a:prstGeom>
          <a:solidFill>
            <a:srgbClr val="E7F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6968" y="4224527"/>
            <a:ext cx="45720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6930A0"/>
                </a:solidFill>
                <a:latin typeface="Apto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133087"/>
            <a:ext cx="3749039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20" b="1" i="0">
                <a:solidFill>
                  <a:srgbClr val="1C1452"/>
                </a:solidFill>
                <a:latin typeface="Aptos"/>
              </a:rPr>
              <a:t>Stock representation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443983"/>
            <a:ext cx="3749039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 dirty="0">
                <a:solidFill>
                  <a:srgbClr val="635E7E"/>
                </a:solidFill>
                <a:latin typeface="Aptos"/>
              </a:rPr>
              <a:t>Validated TRUE / FALSE status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3977639"/>
            <a:ext cx="502920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373368" y="4197096"/>
            <a:ext cx="457200" cy="457200"/>
          </a:xfrm>
          <a:prstGeom prst="ellipse">
            <a:avLst/>
          </a:prstGeom>
          <a:solidFill>
            <a:srgbClr val="E7F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73368" y="4224527"/>
            <a:ext cx="45720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6930A0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79" y="4133087"/>
            <a:ext cx="3749039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20" b="1" i="0">
                <a:solidFill>
                  <a:srgbClr val="1C1452"/>
                </a:solidFill>
                <a:latin typeface="Aptos"/>
              </a:rPr>
              <a:t>Discount logic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79" y="4443983"/>
            <a:ext cx="3749039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 dirty="0">
                <a:solidFill>
                  <a:srgbClr val="635E7E"/>
                </a:solidFill>
                <a:latin typeface="Aptos"/>
              </a:rPr>
              <a:t>Checked percentage field before analysis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303520"/>
            <a:ext cx="10515600" cy="530352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" y="5468112"/>
            <a:ext cx="100584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1" i="0" dirty="0">
                <a:solidFill>
                  <a:srgbClr val="6930A0"/>
                </a:solidFill>
                <a:latin typeface="Aptos"/>
              </a:rPr>
              <a:t>Result: a reproducible foundation for every downstream metric.</a:t>
            </a:r>
          </a:p>
        </p:txBody>
      </p:sp>
      <p:pic>
        <p:nvPicPr>
          <p:cNvPr id="39" name="Picture 38" descr="zepto_logo_light_theme.png">
            <a:extLst>
              <a:ext uri="{FF2B5EF4-FFF2-40B4-BE49-F238E27FC236}">
                <a16:creationId xmlns:a16="http://schemas.microsoft.com/office/drawing/2014/main" id="{B59B80D0-CAF2-CC21-DD80-51DFD4A04C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61" r="14652"/>
          <a:stretch>
            <a:fillRect/>
          </a:stretch>
        </p:blipFill>
        <p:spPr>
          <a:xfrm>
            <a:off x="10716768" y="182880"/>
            <a:ext cx="936000" cy="43641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28600"/>
            <a:ext cx="338328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E72380"/>
                </a:solidFill>
                <a:latin typeface="Aptos"/>
              </a:rPr>
              <a:t>03 •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96012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C1452"/>
                </a:solidFill>
                <a:latin typeface="Aptos"/>
              </a:rPr>
              <a:t>One small transformation made the analysis business-ready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0816" y="6428232"/>
            <a:ext cx="43891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35E7E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246120" cy="2331720"/>
          </a:xfrm>
          <a:prstGeom prst="roundRect">
            <a:avLst/>
          </a:prstGeom>
          <a:solidFill>
            <a:srgbClr val="F1EA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176272"/>
            <a:ext cx="13716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 dirty="0">
                <a:solidFill>
                  <a:srgbClr val="E72380"/>
                </a:solidFill>
                <a:latin typeface="Aptos"/>
              </a:rP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33472"/>
            <a:ext cx="21945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100" b="1" i="0" dirty="0">
                <a:solidFill>
                  <a:srgbClr val="1C1452"/>
                </a:solidFill>
                <a:latin typeface="Aptos"/>
              </a:rPr>
              <a:t>Paise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19272"/>
            <a:ext cx="219456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 dirty="0">
                <a:solidFill>
                  <a:srgbClr val="635E7E"/>
                </a:solidFill>
                <a:latin typeface="Aptos"/>
              </a:rPr>
              <a:t>Raw price unit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874519"/>
            <a:ext cx="2926080" cy="2331720"/>
          </a:xfrm>
          <a:prstGeom prst="roundRect">
            <a:avLst/>
          </a:prstGeom>
          <a:solidFill>
            <a:srgbClr val="FFE5E6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2176272"/>
            <a:ext cx="13716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 dirty="0">
                <a:solidFill>
                  <a:srgbClr val="E72380"/>
                </a:solidFill>
                <a:latin typeface="Aptos"/>
              </a:rP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633472"/>
            <a:ext cx="21945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100" b="1" i="0" dirty="0">
                <a:solidFill>
                  <a:srgbClr val="6930A0"/>
                </a:solidFill>
                <a:latin typeface="Aptos"/>
              </a:rPr>
              <a:t>÷ 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319272"/>
            <a:ext cx="219456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 dirty="0">
                <a:solidFill>
                  <a:srgbClr val="635E7E"/>
                </a:solidFill>
                <a:latin typeface="Aptos"/>
              </a:rPr>
              <a:t>Paise → Rupees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874519"/>
            <a:ext cx="3246120" cy="2331720"/>
          </a:xfrm>
          <a:prstGeom prst="roundRect">
            <a:avLst/>
          </a:prstGeom>
          <a:solidFill>
            <a:srgbClr val="E7F9E2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800" y="2176272"/>
            <a:ext cx="13716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 dirty="0">
                <a:solidFill>
                  <a:srgbClr val="E72380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633472"/>
            <a:ext cx="21945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100" b="1" i="0" dirty="0">
                <a:solidFill>
                  <a:srgbClr val="1C1452"/>
                </a:solidFill>
                <a:latin typeface="Aptos"/>
              </a:rPr>
              <a:t>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3319272"/>
            <a:ext cx="219456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 dirty="0">
                <a:solidFill>
                  <a:srgbClr val="635E7E"/>
                </a:solidFill>
                <a:latin typeface="Aptos"/>
              </a:rPr>
              <a:t>Human-readable pricing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31920" y="3063240"/>
            <a:ext cx="228600" cy="0"/>
          </a:xfrm>
          <a:prstGeom prst="line">
            <a:avLst/>
          </a:prstGeom>
          <a:ln w="38100">
            <a:solidFill>
              <a:srgbClr val="E723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086600" y="3063240"/>
            <a:ext cx="182880" cy="0"/>
          </a:xfrm>
          <a:prstGeom prst="line">
            <a:avLst/>
          </a:prstGeom>
          <a:ln w="38100">
            <a:solidFill>
              <a:srgbClr val="E723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1520" y="4736592"/>
            <a:ext cx="1417320" cy="329184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801201"/>
            <a:ext cx="1325880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 i="0" dirty="0">
                <a:solidFill>
                  <a:srgbClr val="6930A0"/>
                </a:solidFill>
                <a:latin typeface="Aptos"/>
              </a:rPr>
              <a:t>Cleaner reporting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31720" y="4736592"/>
            <a:ext cx="1645920" cy="329184"/>
          </a:xfrm>
          <a:prstGeom prst="roundRect">
            <a:avLst/>
          </a:prstGeom>
          <a:solidFill>
            <a:srgbClr val="FFE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377439" y="4801201"/>
            <a:ext cx="1554480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 i="0" dirty="0">
                <a:solidFill>
                  <a:srgbClr val="E72380"/>
                </a:solidFill>
                <a:latin typeface="Aptos"/>
              </a:rPr>
              <a:t>Comparable metrics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4736592"/>
            <a:ext cx="1783080" cy="329184"/>
          </a:xfrm>
          <a:prstGeom prst="roundRect">
            <a:avLst/>
          </a:prstGeom>
          <a:solidFill>
            <a:srgbClr val="E7F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06240" y="4801201"/>
            <a:ext cx="1691639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 i="0" dirty="0">
                <a:solidFill>
                  <a:srgbClr val="6930A0"/>
                </a:solidFill>
                <a:latin typeface="Aptos"/>
              </a:rPr>
              <a:t>Business-ready units</a:t>
            </a:r>
          </a:p>
        </p:txBody>
      </p:sp>
      <p:pic>
        <p:nvPicPr>
          <p:cNvPr id="27" name="Picture 26" descr="zepto_logo_light_theme.png">
            <a:extLst>
              <a:ext uri="{FF2B5EF4-FFF2-40B4-BE49-F238E27FC236}">
                <a16:creationId xmlns:a16="http://schemas.microsoft.com/office/drawing/2014/main" id="{59FFBDED-2F13-4DEC-A7F4-F7B808BABE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61" r="14652"/>
          <a:stretch>
            <a:fillRect/>
          </a:stretch>
        </p:blipFill>
        <p:spPr>
          <a:xfrm>
            <a:off x="10716768" y="182880"/>
            <a:ext cx="936000" cy="43641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28600"/>
            <a:ext cx="338328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E72380"/>
                </a:solidFill>
                <a:latin typeface="Aptos"/>
              </a:rPr>
              <a:t>04 •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96012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C1452"/>
                </a:solidFill>
                <a:latin typeface="Aptos"/>
              </a:rPr>
              <a:t>Discount depth changes the customer savings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0816" y="6428232"/>
            <a:ext cx="43891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35E7E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4413"/>
            <a:ext cx="1938528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 dirty="0">
                <a:solidFill>
                  <a:srgbClr val="635E7E"/>
                </a:solidFill>
                <a:latin typeface="Aptos"/>
              </a:rPr>
              <a:t>0–10%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24912" y="1961845"/>
            <a:ext cx="3428999" cy="126735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24912" y="1961845"/>
            <a:ext cx="3428999" cy="126735"/>
          </a:xfrm>
          <a:prstGeom prst="round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81344" y="1925269"/>
            <a:ext cx="411480" cy="1723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80" b="1" i="0">
                <a:solidFill>
                  <a:srgbClr val="1C1452"/>
                </a:solidFill>
                <a:latin typeface="Aptos"/>
              </a:rPr>
              <a:t>2443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638501"/>
            <a:ext cx="1938528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 dirty="0">
                <a:solidFill>
                  <a:srgbClr val="635E7E"/>
                </a:solidFill>
                <a:latin typeface="Aptos"/>
              </a:rPr>
              <a:t>10–20</a:t>
            </a:r>
            <a:r>
              <a:rPr sz="940" b="1" i="0" dirty="0">
                <a:solidFill>
                  <a:srgbClr val="635E7E"/>
                </a:solidFill>
                <a:latin typeface="Aptos"/>
              </a:rPr>
              <a:t>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24912" y="2665933"/>
            <a:ext cx="3428999" cy="126735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724912" y="2665933"/>
            <a:ext cx="1310964" cy="126735"/>
          </a:xfrm>
          <a:prstGeom prst="round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81344" y="2629357"/>
            <a:ext cx="411480" cy="2464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80" b="1" i="0">
                <a:solidFill>
                  <a:srgbClr val="1C1452"/>
                </a:solidFill>
                <a:latin typeface="Aptos"/>
              </a:rPr>
              <a:t>934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342589"/>
            <a:ext cx="1938528" cy="1815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40" b="1" i="0" dirty="0">
                <a:solidFill>
                  <a:srgbClr val="635E7E"/>
                </a:solidFill>
                <a:latin typeface="Aptos"/>
              </a:rPr>
              <a:t>20–30%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24912" y="3370021"/>
            <a:ext cx="3428999" cy="126735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724912" y="3370021"/>
            <a:ext cx="284931" cy="126735"/>
          </a:xfrm>
          <a:prstGeom prst="round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81344" y="3333445"/>
            <a:ext cx="411480" cy="2464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80" b="1" i="0">
                <a:solidFill>
                  <a:srgbClr val="1C1452"/>
                </a:solidFill>
                <a:latin typeface="Aptos"/>
              </a:rPr>
              <a:t>203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046677"/>
            <a:ext cx="1938528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 dirty="0">
                <a:solidFill>
                  <a:srgbClr val="635E7E"/>
                </a:solidFill>
                <a:latin typeface="Aptos"/>
              </a:rPr>
              <a:t>30–40</a:t>
            </a:r>
            <a:r>
              <a:rPr sz="940" b="1" i="0" dirty="0">
                <a:solidFill>
                  <a:srgbClr val="635E7E"/>
                </a:solidFill>
                <a:latin typeface="Aptos"/>
              </a:rPr>
              <a:t>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24912" y="4074109"/>
            <a:ext cx="3428999" cy="126735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724912" y="4074109"/>
            <a:ext cx="89830" cy="126735"/>
          </a:xfrm>
          <a:prstGeom prst="round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81344" y="4037533"/>
            <a:ext cx="411480" cy="2464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80" b="1" i="0">
                <a:solidFill>
                  <a:srgbClr val="1C1452"/>
                </a:solidFill>
                <a:latin typeface="Aptos"/>
              </a:rPr>
              <a:t>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750765"/>
            <a:ext cx="1938528" cy="1815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40" b="1" i="0" dirty="0">
                <a:solidFill>
                  <a:srgbClr val="635E7E"/>
                </a:solidFill>
                <a:latin typeface="Aptos"/>
              </a:rPr>
              <a:t>40%+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24912" y="4778197"/>
            <a:ext cx="3428999" cy="126735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724912" y="4778197"/>
            <a:ext cx="110884" cy="126735"/>
          </a:xfrm>
          <a:prstGeom prst="round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81344" y="4741621"/>
            <a:ext cx="411480" cy="2464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80" b="1" i="0">
                <a:solidFill>
                  <a:srgbClr val="1C1452"/>
                </a:solidFill>
                <a:latin typeface="Aptos"/>
              </a:rPr>
              <a:t>79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1572768"/>
            <a:ext cx="128016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 dirty="0">
                <a:solidFill>
                  <a:srgbClr val="635E7E"/>
                </a:solidFill>
                <a:latin typeface="Aptos"/>
              </a:rPr>
              <a:t>PRODUCT </a:t>
            </a:r>
            <a:r>
              <a:rPr sz="1100" b="1" i="0" dirty="0">
                <a:solidFill>
                  <a:srgbClr val="635E7E"/>
                </a:solidFill>
                <a:latin typeface="Aptos"/>
              </a:rPr>
              <a:t>COUNT</a:t>
            </a:r>
            <a:endParaRPr sz="1000" b="1" i="0" dirty="0">
              <a:solidFill>
                <a:srgbClr val="635E7E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903720" y="1828800"/>
            <a:ext cx="4160520" cy="1051560"/>
          </a:xfrm>
          <a:prstGeom prst="roundRect">
            <a:avLst/>
          </a:prstGeom>
          <a:solidFill>
            <a:srgbClr val="FFE5E6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23176" y="1993392"/>
            <a:ext cx="372160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C1452"/>
                </a:solidFill>
                <a:latin typeface="Aptos"/>
              </a:rPr>
              <a:t>40%+ band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23176" y="2359152"/>
            <a:ext cx="3721608" cy="2015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70" b="1" i="0" dirty="0">
                <a:solidFill>
                  <a:srgbClr val="635E7E"/>
                </a:solidFill>
                <a:latin typeface="Aptos"/>
              </a:rPr>
              <a:t>Average customer savings reaches ₹148.97.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23176" y="2770632"/>
            <a:ext cx="960120" cy="54864"/>
          </a:xfrm>
          <a:prstGeom prst="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903720" y="3063240"/>
            <a:ext cx="4160520" cy="1051560"/>
          </a:xfrm>
          <a:prstGeom prst="roundRect">
            <a:avLst/>
          </a:prstGeom>
          <a:solidFill>
            <a:srgbClr val="F1EA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23176" y="3227832"/>
            <a:ext cx="372160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C1452"/>
                </a:solidFill>
                <a:latin typeface="Aptos"/>
              </a:rPr>
              <a:t>20–30% band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23176" y="3593592"/>
            <a:ext cx="3721608" cy="2015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70" b="1" i="0" dirty="0">
                <a:solidFill>
                  <a:srgbClr val="635E7E"/>
                </a:solidFill>
                <a:latin typeface="Aptos"/>
              </a:rPr>
              <a:t>Average customer savings is ₹47.03.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23176" y="4005072"/>
            <a:ext cx="960120" cy="54864"/>
          </a:xfrm>
          <a:prstGeom prst="rect">
            <a:avLst/>
          </a:prstGeom>
          <a:solidFill>
            <a:srgbClr val="69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903720" y="4297680"/>
            <a:ext cx="4160520" cy="1051560"/>
          </a:xfrm>
          <a:prstGeom prst="roundRect">
            <a:avLst/>
          </a:prstGeom>
          <a:solidFill>
            <a:srgbClr val="E7F9E2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123176" y="4462272"/>
            <a:ext cx="3721608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C1452"/>
                </a:solidFill>
                <a:latin typeface="Aptos"/>
              </a:rPr>
              <a:t>0–10% band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23176" y="4828032"/>
            <a:ext cx="3721608" cy="2015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70" b="1" i="0" dirty="0">
                <a:solidFill>
                  <a:srgbClr val="635E7E"/>
                </a:solidFill>
                <a:latin typeface="Aptos"/>
              </a:rPr>
              <a:t>Largest volume: 2,443 products.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23176" y="5239512"/>
            <a:ext cx="960120" cy="54864"/>
          </a:xfrm>
          <a:prstGeom prst="rect">
            <a:avLst/>
          </a:prstGeom>
          <a:solidFill>
            <a:srgbClr val="69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903720" y="5468112"/>
            <a:ext cx="42291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dyn_sql_185117.png"/>
          <p:cNvPicPr>
            <a:picLocks noChangeAspect="1"/>
          </p:cNvPicPr>
          <p:nvPr/>
        </p:nvPicPr>
        <p:blipFill>
          <a:blip r:embed="rId2"/>
          <a:srcRect l="5887" t="37299" r="26527" b="8353"/>
          <a:stretch>
            <a:fillRect/>
          </a:stretch>
        </p:blipFill>
        <p:spPr>
          <a:xfrm>
            <a:off x="7123176" y="5504262"/>
            <a:ext cx="3528000" cy="900000"/>
          </a:xfrm>
          <a:prstGeom prst="rect">
            <a:avLst/>
          </a:prstGeom>
          <a:ln>
            <a:noFill/>
          </a:ln>
        </p:spPr>
      </p:pic>
      <p:pic>
        <p:nvPicPr>
          <p:cNvPr id="42" name="Picture 41" descr="zepto_logo_light_theme.png">
            <a:extLst>
              <a:ext uri="{FF2B5EF4-FFF2-40B4-BE49-F238E27FC236}">
                <a16:creationId xmlns:a16="http://schemas.microsoft.com/office/drawing/2014/main" id="{E2FD9832-26F8-41D6-2B84-5AEA0FA2F1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61" r="14652"/>
          <a:stretch>
            <a:fillRect/>
          </a:stretch>
        </p:blipFill>
        <p:spPr>
          <a:xfrm>
            <a:off x="10716768" y="182880"/>
            <a:ext cx="936000" cy="43641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28600"/>
            <a:ext cx="338328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E72380"/>
                </a:solidFill>
                <a:latin typeface="Aptos"/>
              </a:rPr>
              <a:t>04 •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96012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C1452"/>
                </a:solidFill>
                <a:latin typeface="Aptos"/>
              </a:rPr>
              <a:t>Where total customer savings accumulate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0816" y="6428232"/>
            <a:ext cx="43891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35E7E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48230"/>
            <a:ext cx="2258568" cy="1815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40" b="1" i="0" dirty="0">
                <a:solidFill>
                  <a:srgbClr val="635E7E"/>
                </a:solidFill>
                <a:latin typeface="Aptos"/>
              </a:rPr>
              <a:t>Cooking Essentials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4952" y="1875662"/>
            <a:ext cx="3886200" cy="78181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044952" y="1875662"/>
            <a:ext cx="3690518" cy="78181"/>
          </a:xfrm>
          <a:prstGeom prst="roundRect">
            <a:avLst/>
          </a:prstGeom>
          <a:solidFill>
            <a:srgbClr val="69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58584" y="1839087"/>
            <a:ext cx="411480" cy="15201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80" b="1" i="0">
                <a:solidFill>
                  <a:srgbClr val="1C1452"/>
                </a:solidFill>
                <a:latin typeface="Aptos"/>
              </a:rPr>
              <a:t>₹8072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82571"/>
            <a:ext cx="2258568" cy="1815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40" b="1" i="0" dirty="0">
                <a:solidFill>
                  <a:srgbClr val="635E7E"/>
                </a:solidFill>
                <a:latin typeface="Aptos"/>
              </a:rPr>
              <a:t>Munchies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44952" y="2310002"/>
            <a:ext cx="3886200" cy="78181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044952" y="2310002"/>
            <a:ext cx="3690518" cy="78181"/>
          </a:xfrm>
          <a:prstGeom prst="roundRect">
            <a:avLst/>
          </a:prstGeom>
          <a:solidFill>
            <a:srgbClr val="69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58584" y="2273427"/>
            <a:ext cx="411480" cy="15201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80" b="1" i="0">
                <a:solidFill>
                  <a:srgbClr val="1C1452"/>
                </a:solidFill>
                <a:latin typeface="Aptos"/>
              </a:rPr>
              <a:t>₹8072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716911"/>
            <a:ext cx="2258568" cy="1815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40" b="1" i="0" dirty="0">
                <a:solidFill>
                  <a:srgbClr val="635E7E"/>
                </a:solidFill>
                <a:latin typeface="Aptos"/>
              </a:rPr>
              <a:t>Personal Care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44952" y="2744343"/>
            <a:ext cx="3886200" cy="78181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044952" y="2744343"/>
            <a:ext cx="2722168" cy="78181"/>
          </a:xfrm>
          <a:prstGeom prst="roundRect">
            <a:avLst/>
          </a:prstGeom>
          <a:solidFill>
            <a:srgbClr val="69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58584" y="2707767"/>
            <a:ext cx="411480" cy="15201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80" b="1" i="0">
                <a:solidFill>
                  <a:srgbClr val="1C1452"/>
                </a:solidFill>
                <a:latin typeface="Aptos"/>
              </a:rPr>
              <a:t>₹5954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151251"/>
            <a:ext cx="2258568" cy="1815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40" b="1" i="0" dirty="0">
                <a:solidFill>
                  <a:srgbClr val="635E7E"/>
                </a:solidFill>
                <a:latin typeface="Aptos"/>
              </a:rPr>
              <a:t>Paan Corner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44952" y="3178683"/>
            <a:ext cx="3886200" cy="78181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044952" y="3178683"/>
            <a:ext cx="2722168" cy="78181"/>
          </a:xfrm>
          <a:prstGeom prst="roundRect">
            <a:avLst/>
          </a:prstGeom>
          <a:solidFill>
            <a:srgbClr val="69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58584" y="3142107"/>
            <a:ext cx="411480" cy="15201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80" b="1" i="0">
                <a:solidFill>
                  <a:srgbClr val="1C1452"/>
                </a:solidFill>
                <a:latin typeface="Aptos"/>
              </a:rPr>
              <a:t>₹5954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585590"/>
            <a:ext cx="2258568" cy="1815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40" b="1" i="0" dirty="0">
                <a:solidFill>
                  <a:srgbClr val="635E7E"/>
                </a:solidFill>
                <a:latin typeface="Aptos"/>
              </a:rPr>
              <a:t>Packaged Food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44952" y="3613022"/>
            <a:ext cx="3886200" cy="78181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044952" y="3613022"/>
            <a:ext cx="2598724" cy="78181"/>
          </a:xfrm>
          <a:prstGeom prst="roundRect">
            <a:avLst/>
          </a:prstGeom>
          <a:solidFill>
            <a:srgbClr val="69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58584" y="3576447"/>
            <a:ext cx="411480" cy="15201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80" b="1" i="0">
                <a:solidFill>
                  <a:srgbClr val="1C1452"/>
                </a:solidFill>
                <a:latin typeface="Aptos"/>
              </a:rPr>
              <a:t>₹5684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019931"/>
            <a:ext cx="2258568" cy="1815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40" b="1" i="0" dirty="0">
                <a:solidFill>
                  <a:srgbClr val="635E7E"/>
                </a:solidFill>
                <a:latin typeface="Aptos"/>
              </a:rPr>
              <a:t>Ice Cream &amp; Desserts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44952" y="4047363"/>
            <a:ext cx="3886200" cy="78181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044952" y="4047363"/>
            <a:ext cx="2598724" cy="78181"/>
          </a:xfrm>
          <a:prstGeom prst="roundRect">
            <a:avLst/>
          </a:prstGeom>
          <a:solidFill>
            <a:srgbClr val="69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58584" y="4010787"/>
            <a:ext cx="411480" cy="15201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80" b="1" i="0">
                <a:solidFill>
                  <a:srgbClr val="1C1452"/>
                </a:solidFill>
                <a:latin typeface="Aptos"/>
              </a:rPr>
              <a:t>₹5684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454271"/>
            <a:ext cx="2258568" cy="1815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40" b="1" i="0" dirty="0">
                <a:solidFill>
                  <a:srgbClr val="635E7E"/>
                </a:solidFill>
                <a:latin typeface="Aptos"/>
              </a:rPr>
              <a:t>Chocolates &amp; Candies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44952" y="4481703"/>
            <a:ext cx="3886200" cy="78181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044952" y="4481703"/>
            <a:ext cx="2598724" cy="78181"/>
          </a:xfrm>
          <a:prstGeom prst="roundRect">
            <a:avLst/>
          </a:prstGeom>
          <a:solidFill>
            <a:srgbClr val="69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58584" y="4445127"/>
            <a:ext cx="411480" cy="15201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80" b="1" i="0">
                <a:solidFill>
                  <a:srgbClr val="1C1452"/>
                </a:solidFill>
                <a:latin typeface="Aptos"/>
              </a:rPr>
              <a:t>₹5684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4888611"/>
            <a:ext cx="2258568" cy="1815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40" b="1" i="0" dirty="0">
                <a:solidFill>
                  <a:srgbClr val="635E7E"/>
                </a:solidFill>
                <a:latin typeface="Aptos"/>
              </a:rPr>
              <a:t>Home &amp; Cleaning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44952" y="4916043"/>
            <a:ext cx="3886200" cy="78181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3044952" y="4916043"/>
            <a:ext cx="949604" cy="78181"/>
          </a:xfrm>
          <a:prstGeom prst="roundRect">
            <a:avLst/>
          </a:prstGeom>
          <a:solidFill>
            <a:srgbClr val="69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58584" y="4879467"/>
            <a:ext cx="411480" cy="15201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80" b="1" i="0">
                <a:solidFill>
                  <a:srgbClr val="1C1452"/>
                </a:solidFill>
                <a:latin typeface="Aptos"/>
              </a:rPr>
              <a:t>₹2077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5322951"/>
            <a:ext cx="2258568" cy="1815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40" b="1" i="0" dirty="0">
                <a:solidFill>
                  <a:srgbClr val="635E7E"/>
                </a:solidFill>
                <a:latin typeface="Aptos"/>
              </a:rPr>
              <a:t>Dairy, Bread &amp; Batter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44952" y="5350383"/>
            <a:ext cx="3886200" cy="78181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3044952" y="5350383"/>
            <a:ext cx="883310" cy="78181"/>
          </a:xfrm>
          <a:prstGeom prst="roundRect">
            <a:avLst/>
          </a:prstGeom>
          <a:solidFill>
            <a:srgbClr val="69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958584" y="5313807"/>
            <a:ext cx="411480" cy="15201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80" b="1" i="0">
                <a:solidFill>
                  <a:srgbClr val="1C1452"/>
                </a:solidFill>
                <a:latin typeface="Aptos"/>
              </a:rPr>
              <a:t>₹1932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5757291"/>
            <a:ext cx="2258568" cy="1815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40" b="1" i="0" dirty="0">
                <a:solidFill>
                  <a:srgbClr val="635E7E"/>
                </a:solidFill>
                <a:latin typeface="Aptos"/>
              </a:rPr>
              <a:t>Beverages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44952" y="5784723"/>
            <a:ext cx="3886200" cy="78181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3044952" y="5784723"/>
            <a:ext cx="883310" cy="78181"/>
          </a:xfrm>
          <a:prstGeom prst="roundRect">
            <a:avLst/>
          </a:prstGeom>
          <a:solidFill>
            <a:srgbClr val="69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958584" y="5748147"/>
            <a:ext cx="411480" cy="15201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80" b="1" i="0">
                <a:solidFill>
                  <a:srgbClr val="1C1452"/>
                </a:solidFill>
                <a:latin typeface="Aptos"/>
              </a:rPr>
              <a:t>₹1932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1536192"/>
            <a:ext cx="237744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 dirty="0">
                <a:solidFill>
                  <a:srgbClr val="635E7E"/>
                </a:solidFill>
                <a:latin typeface="Aptos"/>
              </a:rPr>
              <a:t>TOTAL CUSTOMER </a:t>
            </a:r>
            <a:r>
              <a:rPr sz="1050" b="1" i="0" dirty="0">
                <a:solidFill>
                  <a:srgbClr val="635E7E"/>
                </a:solidFill>
                <a:latin typeface="Aptos"/>
              </a:rPr>
              <a:t>SAVINGS</a:t>
            </a:r>
            <a:endParaRPr sz="950" b="1" i="0" dirty="0">
              <a:solidFill>
                <a:srgbClr val="635E7E"/>
              </a:solidFill>
              <a:latin typeface="Aptos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7589520" y="1828800"/>
            <a:ext cx="3520440" cy="4023360"/>
          </a:xfrm>
          <a:prstGeom prst="roundRect">
            <a:avLst/>
          </a:prstGeom>
          <a:solidFill>
            <a:srgbClr val="F1EA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882127" y="2148840"/>
            <a:ext cx="137160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 dirty="0">
                <a:solidFill>
                  <a:srgbClr val="E72380"/>
                </a:solidFill>
                <a:latin typeface="Aptos"/>
              </a:rPr>
              <a:t>TOP RESULT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82127" y="2633472"/>
            <a:ext cx="20116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 i="0">
                <a:solidFill>
                  <a:srgbClr val="1C1452"/>
                </a:solidFill>
                <a:latin typeface="Aptos"/>
              </a:rPr>
              <a:t>₹8,072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82127" y="3200400"/>
            <a:ext cx="24688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635E7E"/>
                </a:solidFill>
                <a:latin typeface="Aptos"/>
              </a:rPr>
              <a:t>Cooking Essentials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82127" y="361188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C1452"/>
                </a:solidFill>
                <a:latin typeface="Aptos"/>
              </a:rPr>
              <a:t>Munchies matches this total.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882127" y="4160520"/>
            <a:ext cx="1600200" cy="329184"/>
          </a:xfrm>
          <a:prstGeom prst="roundRect">
            <a:avLst/>
          </a:prstGeom>
          <a:solidFill>
            <a:srgbClr val="FFE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927848" y="4206240"/>
            <a:ext cx="150876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E72380"/>
                </a:solidFill>
                <a:latin typeface="Aptos"/>
              </a:rPr>
              <a:t>Customer value lens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589520" y="461772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5" name="Picture 54" descr="dyn_sql_185159.png"/>
          <p:cNvPicPr>
            <a:picLocks noChangeAspect="1"/>
          </p:cNvPicPr>
          <p:nvPr/>
        </p:nvPicPr>
        <p:blipFill>
          <a:blip r:embed="rId2"/>
          <a:srcRect l="4519" t="1356" r="57529" b="7239"/>
          <a:stretch>
            <a:fillRect/>
          </a:stretch>
        </p:blipFill>
        <p:spPr>
          <a:xfrm>
            <a:off x="7882127" y="4661829"/>
            <a:ext cx="2672623" cy="1118789"/>
          </a:xfrm>
          <a:prstGeom prst="rect">
            <a:avLst/>
          </a:prstGeom>
        </p:spPr>
      </p:pic>
      <p:pic>
        <p:nvPicPr>
          <p:cNvPr id="57" name="Picture 56" descr="zepto_logo_light_theme.png">
            <a:extLst>
              <a:ext uri="{FF2B5EF4-FFF2-40B4-BE49-F238E27FC236}">
                <a16:creationId xmlns:a16="http://schemas.microsoft.com/office/drawing/2014/main" id="{13FED6DF-B52A-0075-3DAD-5AEF46F4DD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61" r="14652"/>
          <a:stretch>
            <a:fillRect/>
          </a:stretch>
        </p:blipFill>
        <p:spPr>
          <a:xfrm>
            <a:off x="10716768" y="182880"/>
            <a:ext cx="936000" cy="43641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28600"/>
            <a:ext cx="338328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E72380"/>
                </a:solidFill>
                <a:latin typeface="Aptos"/>
              </a:rPr>
              <a:t>05 •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96012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C1452"/>
                </a:solidFill>
                <a:latin typeface="Aptos"/>
              </a:rPr>
              <a:t>Normalize the price before comparing products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0816" y="6428232"/>
            <a:ext cx="43891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35E7E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57476"/>
            <a:ext cx="2258568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 dirty="0">
                <a:solidFill>
                  <a:srgbClr val="635E7E"/>
                </a:solidFill>
                <a:latin typeface="Aptos"/>
              </a:rPr>
              <a:t>Fruits &amp; Vegetables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4952" y="1784908"/>
            <a:ext cx="3931920" cy="79004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044952" y="1784908"/>
            <a:ext cx="1107053" cy="79004"/>
          </a:xfrm>
          <a:prstGeom prst="round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04304" y="1748332"/>
            <a:ext cx="41148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 dirty="0">
                <a:solidFill>
                  <a:srgbClr val="1C1452"/>
                </a:solidFill>
                <a:latin typeface="Aptos"/>
              </a:rPr>
              <a:t>₹25.34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96388"/>
            <a:ext cx="2258568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 dirty="0">
                <a:solidFill>
                  <a:srgbClr val="635E7E"/>
                </a:solidFill>
                <a:latin typeface="Aptos"/>
              </a:rPr>
              <a:t>Biscuits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44952" y="2223820"/>
            <a:ext cx="3931920" cy="79004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044952" y="2223820"/>
            <a:ext cx="1556166" cy="79004"/>
          </a:xfrm>
          <a:prstGeom prst="round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04304" y="2187244"/>
            <a:ext cx="41148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C1452"/>
                </a:solidFill>
                <a:latin typeface="Aptos"/>
              </a:rPr>
              <a:t>₹35.62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635300"/>
            <a:ext cx="2258568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 dirty="0">
                <a:solidFill>
                  <a:srgbClr val="635E7E"/>
                </a:solidFill>
                <a:latin typeface="Aptos"/>
              </a:rPr>
              <a:t>Dairy, Bread &amp; Batter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44952" y="2662732"/>
            <a:ext cx="3931920" cy="79004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044952" y="2662732"/>
            <a:ext cx="1785091" cy="79004"/>
          </a:xfrm>
          <a:prstGeom prst="round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04304" y="2626156"/>
            <a:ext cx="41148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C1452"/>
                </a:solidFill>
                <a:latin typeface="Aptos"/>
              </a:rPr>
              <a:t>₹40.86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074212"/>
            <a:ext cx="2258568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 dirty="0">
                <a:solidFill>
                  <a:srgbClr val="635E7E"/>
                </a:solidFill>
                <a:latin typeface="Aptos"/>
              </a:rPr>
              <a:t>Beverages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44952" y="3101644"/>
            <a:ext cx="3931920" cy="79004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044952" y="3101644"/>
            <a:ext cx="1785091" cy="79004"/>
          </a:xfrm>
          <a:prstGeom prst="round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04304" y="3065068"/>
            <a:ext cx="41148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C1452"/>
                </a:solidFill>
                <a:latin typeface="Aptos"/>
              </a:rPr>
              <a:t>₹40.86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513124"/>
            <a:ext cx="2258568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 dirty="0">
                <a:solidFill>
                  <a:srgbClr val="635E7E"/>
                </a:solidFill>
                <a:latin typeface="Aptos"/>
              </a:rPr>
              <a:t>Meats, Fish &amp; Eggs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44952" y="3540556"/>
            <a:ext cx="3931920" cy="79004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044952" y="3540556"/>
            <a:ext cx="2143333" cy="79004"/>
          </a:xfrm>
          <a:prstGeom prst="round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04304" y="3503980"/>
            <a:ext cx="41148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C1452"/>
                </a:solidFill>
                <a:latin typeface="Aptos"/>
              </a:rPr>
              <a:t>₹49.06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3952036"/>
            <a:ext cx="2258568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 dirty="0">
                <a:solidFill>
                  <a:srgbClr val="635E7E"/>
                </a:solidFill>
                <a:latin typeface="Aptos"/>
              </a:rPr>
              <a:t>Packaged Food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44952" y="3979468"/>
            <a:ext cx="3931920" cy="79004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044952" y="3979468"/>
            <a:ext cx="2674579" cy="79004"/>
          </a:xfrm>
          <a:prstGeom prst="round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04304" y="3942892"/>
            <a:ext cx="41148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C1452"/>
                </a:solidFill>
                <a:latin typeface="Aptos"/>
              </a:rPr>
              <a:t>₹61.22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390948"/>
            <a:ext cx="2258568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 dirty="0">
                <a:solidFill>
                  <a:srgbClr val="635E7E"/>
                </a:solidFill>
                <a:latin typeface="Aptos"/>
              </a:rPr>
              <a:t>Ice Cream &amp; Desserts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44952" y="4418380"/>
            <a:ext cx="3931920" cy="79004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044952" y="4418380"/>
            <a:ext cx="2674579" cy="79004"/>
          </a:xfrm>
          <a:prstGeom prst="round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04304" y="4381804"/>
            <a:ext cx="41148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C1452"/>
                </a:solidFill>
                <a:latin typeface="Aptos"/>
              </a:rPr>
              <a:t>₹61.22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4829860"/>
            <a:ext cx="2258568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 dirty="0">
                <a:solidFill>
                  <a:srgbClr val="635E7E"/>
                </a:solidFill>
                <a:latin typeface="Aptos"/>
              </a:rPr>
              <a:t>Chocolates &amp; Candies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44952" y="4857292"/>
            <a:ext cx="3931920" cy="79004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3044952" y="4857292"/>
            <a:ext cx="2674579" cy="79004"/>
          </a:xfrm>
          <a:prstGeom prst="round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04304" y="4820716"/>
            <a:ext cx="41148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C1452"/>
                </a:solidFill>
                <a:latin typeface="Aptos"/>
              </a:rPr>
              <a:t>₹61.22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5268772"/>
            <a:ext cx="2258568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 dirty="0">
                <a:solidFill>
                  <a:srgbClr val="635E7E"/>
                </a:solidFill>
                <a:latin typeface="Aptos"/>
              </a:rPr>
              <a:t>Cooking Essentials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44952" y="5296204"/>
            <a:ext cx="3931920" cy="79004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3044952" y="5296204"/>
            <a:ext cx="3653190" cy="79004"/>
          </a:xfrm>
          <a:prstGeom prst="round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004304" y="5259628"/>
            <a:ext cx="41148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C1452"/>
                </a:solidFill>
                <a:latin typeface="Aptos"/>
              </a:rPr>
              <a:t>₹83.62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5707684"/>
            <a:ext cx="2258568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 dirty="0">
                <a:solidFill>
                  <a:srgbClr val="635E7E"/>
                </a:solidFill>
                <a:latin typeface="Aptos"/>
              </a:rPr>
              <a:t>Munchies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44952" y="5735116"/>
            <a:ext cx="3931920" cy="79004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3044952" y="5735116"/>
            <a:ext cx="3653190" cy="79004"/>
          </a:xfrm>
          <a:prstGeom prst="round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004304" y="5698540"/>
            <a:ext cx="41148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C1452"/>
                </a:solidFill>
                <a:latin typeface="Aptos"/>
              </a:rPr>
              <a:t>₹83.62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89520" y="169164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882127" y="1965960"/>
            <a:ext cx="18288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 dirty="0">
                <a:solidFill>
                  <a:srgbClr val="E72380"/>
                </a:solidFill>
                <a:latin typeface="Aptos"/>
              </a:rPr>
              <a:t>WHY ₹ / 100g?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82127" y="2395728"/>
            <a:ext cx="269748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C1452"/>
                </a:solidFill>
                <a:latin typeface="Aptos"/>
              </a:rPr>
              <a:t>Pack size can distort a simple price comparison.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82127" y="3246120"/>
            <a:ext cx="2697480" cy="5447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635E7E"/>
                </a:solidFill>
                <a:latin typeface="Aptos"/>
              </a:rPr>
              <a:t>The normalized measure gives a more comparable value lens across different weights.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882127" y="4389120"/>
            <a:ext cx="1508760" cy="329184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927848" y="4453729"/>
            <a:ext cx="1417319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 i="0" dirty="0">
                <a:solidFill>
                  <a:srgbClr val="6930A0"/>
                </a:solidFill>
                <a:latin typeface="Aptos"/>
              </a:rPr>
              <a:t>Lowest category avg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82127" y="4846320"/>
            <a:ext cx="24688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C1452"/>
                </a:solidFill>
                <a:latin typeface="Aptos"/>
              </a:rPr>
              <a:t>Fruits &amp; Vegetables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82127" y="5202936"/>
            <a:ext cx="20116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E72380"/>
                </a:solidFill>
                <a:latin typeface="Aptos"/>
              </a:rPr>
              <a:t>₹25.34 / 100g</a:t>
            </a:r>
          </a:p>
        </p:txBody>
      </p:sp>
      <p:pic>
        <p:nvPicPr>
          <p:cNvPr id="55" name="Picture 54" descr="zepto_logo_light_theme.png">
            <a:extLst>
              <a:ext uri="{FF2B5EF4-FFF2-40B4-BE49-F238E27FC236}">
                <a16:creationId xmlns:a16="http://schemas.microsoft.com/office/drawing/2014/main" id="{3733FEBF-C31F-1B18-812D-ECAAC67223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61" r="14652"/>
          <a:stretch>
            <a:fillRect/>
          </a:stretch>
        </p:blipFill>
        <p:spPr>
          <a:xfrm>
            <a:off x="10716768" y="182880"/>
            <a:ext cx="936000" cy="43641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28600"/>
            <a:ext cx="338328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E72380"/>
                </a:solidFill>
                <a:latin typeface="Aptos"/>
              </a:rPr>
              <a:t>05 •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96012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C1452"/>
                </a:solidFill>
                <a:latin typeface="Aptos"/>
              </a:rPr>
              <a:t>Product-level value leaders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0816" y="6428232"/>
            <a:ext cx="43891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35E7E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64208"/>
            <a:ext cx="71780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92440" y="1664208"/>
            <a:ext cx="2971800" cy="4434840"/>
          </a:xfrm>
          <a:prstGeom prst="roundRect">
            <a:avLst/>
          </a:prstGeom>
          <a:solidFill>
            <a:srgbClr val="FFE5E6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48" y="1993392"/>
            <a:ext cx="164592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 dirty="0">
                <a:solidFill>
                  <a:srgbClr val="E72380"/>
                </a:solidFill>
                <a:latin typeface="Aptos"/>
              </a:rPr>
              <a:t>LOWEST SHOWN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5048" y="2487168"/>
            <a:ext cx="19202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C1452"/>
                </a:solidFill>
                <a:latin typeface="Aptos"/>
              </a:rPr>
              <a:t>₹1.72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5048" y="2999232"/>
            <a:ext cx="18288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35E7E"/>
                </a:solidFill>
                <a:latin typeface="Aptos"/>
              </a:rPr>
              <a:t>per 100g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8" y="3474720"/>
            <a:ext cx="214884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C1452"/>
                </a:solidFill>
                <a:latin typeface="Aptos"/>
              </a:rPr>
              <a:t>Vicks Cough Drops Menthol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5048" y="4315968"/>
            <a:ext cx="2148840" cy="37548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635E7E"/>
                </a:solidFill>
                <a:latin typeface="Aptos"/>
              </a:rPr>
              <a:t>The supplied result ranks products by normalized selling price.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5048" y="5230368"/>
            <a:ext cx="141732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0768" y="5294977"/>
            <a:ext cx="1325880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 i="0" dirty="0">
                <a:solidFill>
                  <a:srgbClr val="E72380"/>
                </a:solidFill>
                <a:latin typeface="Aptos"/>
              </a:rPr>
              <a:t>Value-for-money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A482AFF-B0B7-C406-CFE9-DF4BB38B42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30" t="37151" r="16161" b="2514"/>
          <a:stretch>
            <a:fillRect/>
          </a:stretch>
        </p:blipFill>
        <p:spPr>
          <a:xfrm>
            <a:off x="1260215" y="1957996"/>
            <a:ext cx="5862961" cy="3957499"/>
          </a:xfrm>
          <a:prstGeom prst="rect">
            <a:avLst/>
          </a:prstGeom>
        </p:spPr>
      </p:pic>
      <p:pic>
        <p:nvPicPr>
          <p:cNvPr id="16" name="Picture 15" descr="zepto_logo_light_theme.png">
            <a:extLst>
              <a:ext uri="{FF2B5EF4-FFF2-40B4-BE49-F238E27FC236}">
                <a16:creationId xmlns:a16="http://schemas.microsoft.com/office/drawing/2014/main" id="{9B79F35D-C51D-8A72-0796-CBC4721B2C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61" r="14652"/>
          <a:stretch>
            <a:fillRect/>
          </a:stretch>
        </p:blipFill>
        <p:spPr>
          <a:xfrm>
            <a:off x="10716768" y="182880"/>
            <a:ext cx="936000" cy="43641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28600"/>
            <a:ext cx="338328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E72380"/>
                </a:solidFill>
                <a:latin typeface="Aptos"/>
              </a:rPr>
              <a:t>05 •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96012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C1452"/>
                </a:solidFill>
                <a:latin typeface="Aptos"/>
              </a:rPr>
              <a:t>Combine discount intensity with normalized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0816" y="6428232"/>
            <a:ext cx="43891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35E7E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64208"/>
            <a:ext cx="73152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75320" y="1664208"/>
            <a:ext cx="2788920" cy="4434840"/>
          </a:xfrm>
          <a:prstGeom prst="roundRect">
            <a:avLst/>
          </a:prstGeom>
          <a:solidFill>
            <a:srgbClr val="E7F9E2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31352" y="1993392"/>
            <a:ext cx="164592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 dirty="0">
                <a:solidFill>
                  <a:srgbClr val="E72380"/>
                </a:solidFill>
                <a:latin typeface="Aptos"/>
              </a:rPr>
              <a:t>FILTERED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1352" y="2468880"/>
            <a:ext cx="182880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C1452"/>
                </a:solidFill>
                <a:latin typeface="Aptos"/>
              </a:rPr>
              <a:t>≥ 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1352" y="2926080"/>
            <a:ext cx="146304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 dirty="0">
                <a:solidFill>
                  <a:srgbClr val="635E7E"/>
                </a:solidFill>
                <a:latin typeface="Aptos"/>
              </a:rPr>
              <a:t>discount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2" y="3401568"/>
            <a:ext cx="18288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C1452"/>
                </a:solidFill>
                <a:latin typeface="Aptos"/>
              </a:rPr>
              <a:t>Carrot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352" y="3840480"/>
            <a:ext cx="201168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E72380"/>
                </a:solidFill>
                <a:latin typeface="Aptos"/>
              </a:rPr>
              <a:t>₹3.00 / 100g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1352" y="4325112"/>
            <a:ext cx="18288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 dirty="0">
                <a:solidFill>
                  <a:srgbClr val="6930A0"/>
                </a:solidFill>
                <a:latin typeface="Aptos"/>
              </a:rPr>
              <a:t>21% discount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31352" y="4983480"/>
            <a:ext cx="141732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77072" y="5048089"/>
            <a:ext cx="1325880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 i="0" dirty="0">
                <a:solidFill>
                  <a:srgbClr val="6930A0"/>
                </a:solidFill>
                <a:latin typeface="Aptos"/>
              </a:rPr>
              <a:t>Dual-value lens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404D315-3508-B59F-5C25-B40F009A58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79" t="45463" r="2579" b="-2991"/>
          <a:stretch>
            <a:fillRect/>
          </a:stretch>
        </p:blipFill>
        <p:spPr>
          <a:xfrm>
            <a:off x="952337" y="1979502"/>
            <a:ext cx="6692047" cy="4017698"/>
          </a:xfrm>
          <a:prstGeom prst="rect">
            <a:avLst/>
          </a:prstGeom>
        </p:spPr>
      </p:pic>
      <p:pic>
        <p:nvPicPr>
          <p:cNvPr id="17" name="Picture 16" descr="zepto_logo_light_theme.png">
            <a:extLst>
              <a:ext uri="{FF2B5EF4-FFF2-40B4-BE49-F238E27FC236}">
                <a16:creationId xmlns:a16="http://schemas.microsoft.com/office/drawing/2014/main" id="{EEA4B129-B0CD-1575-5269-42232C36B3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61" r="14652"/>
          <a:stretch>
            <a:fillRect/>
          </a:stretch>
        </p:blipFill>
        <p:spPr>
          <a:xfrm>
            <a:off x="10716768" y="182880"/>
            <a:ext cx="936000" cy="43641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28600"/>
            <a:ext cx="338328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E72380"/>
                </a:solidFill>
                <a:latin typeface="Aptos"/>
              </a:rPr>
              <a:t>06 •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96012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C1452"/>
                </a:solidFill>
                <a:latin typeface="Aptos"/>
              </a:rPr>
              <a:t>Availability varies sharply by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0816" y="6428232"/>
            <a:ext cx="43891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35E7E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75650"/>
            <a:ext cx="2258568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 dirty="0">
                <a:solidFill>
                  <a:srgbClr val="635E7E"/>
                </a:solidFill>
                <a:latin typeface="Aptos"/>
              </a:rPr>
              <a:t>Biscuits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4952" y="1803082"/>
            <a:ext cx="3977640" cy="100812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044952" y="1803082"/>
            <a:ext cx="3788039" cy="100812"/>
          </a:xfrm>
          <a:prstGeom prst="round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50024" y="1766506"/>
            <a:ext cx="41148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 dirty="0">
                <a:solidFill>
                  <a:srgbClr val="1C1452"/>
                </a:solidFill>
                <a:latin typeface="Aptos"/>
              </a:rPr>
              <a:t>28.57%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335720"/>
            <a:ext cx="2258568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635E7E"/>
                </a:solidFill>
                <a:latin typeface="Aptos"/>
              </a:rPr>
              <a:t>Dairy, Bread &amp; Batter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44952" y="2363152"/>
            <a:ext cx="3977640" cy="100812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044952" y="2363152"/>
            <a:ext cx="2878485" cy="100812"/>
          </a:xfrm>
          <a:prstGeom prst="round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50024" y="2326576"/>
            <a:ext cx="41148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C1452"/>
                </a:solidFill>
                <a:latin typeface="Aptos"/>
              </a:rPr>
              <a:t>21.71%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895790"/>
            <a:ext cx="2258568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635E7E"/>
                </a:solidFill>
                <a:latin typeface="Aptos"/>
              </a:rPr>
              <a:t>Beverages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44952" y="2923222"/>
            <a:ext cx="3977640" cy="100812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044952" y="2923222"/>
            <a:ext cx="2878485" cy="100812"/>
          </a:xfrm>
          <a:prstGeom prst="round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50024" y="2886646"/>
            <a:ext cx="41148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C1452"/>
                </a:solidFill>
                <a:latin typeface="Aptos"/>
              </a:rPr>
              <a:t>21.71%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455860"/>
            <a:ext cx="2258568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635E7E"/>
                </a:solidFill>
                <a:latin typeface="Aptos"/>
              </a:rPr>
              <a:t>Meats, Fish &amp; Eggs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44952" y="3483292"/>
            <a:ext cx="3977640" cy="100812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044952" y="3483292"/>
            <a:ext cx="2525801" cy="100812"/>
          </a:xfrm>
          <a:prstGeom prst="round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50024" y="3446716"/>
            <a:ext cx="41148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C1452"/>
                </a:solidFill>
                <a:latin typeface="Aptos"/>
              </a:rPr>
              <a:t>19.05%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015930"/>
            <a:ext cx="2258568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635E7E"/>
                </a:solidFill>
                <a:latin typeface="Aptos"/>
              </a:rPr>
              <a:t>Health &amp; Hygiene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44952" y="4043362"/>
            <a:ext cx="3977640" cy="100812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044952" y="4043362"/>
            <a:ext cx="1776679" cy="100812"/>
          </a:xfrm>
          <a:prstGeom prst="round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50024" y="4006786"/>
            <a:ext cx="41148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C1452"/>
                </a:solidFill>
                <a:latin typeface="Aptos"/>
              </a:rPr>
              <a:t>13.40%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576000"/>
            <a:ext cx="2258568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635E7E"/>
                </a:solidFill>
                <a:latin typeface="Aptos"/>
              </a:rPr>
              <a:t>Cooking Essentials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44952" y="4603432"/>
            <a:ext cx="3977640" cy="100812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044952" y="4603432"/>
            <a:ext cx="1657350" cy="100812"/>
          </a:xfrm>
          <a:prstGeom prst="round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50024" y="4566856"/>
            <a:ext cx="41148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C1452"/>
                </a:solidFill>
                <a:latin typeface="Aptos"/>
              </a:rPr>
              <a:t>12.50%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136070"/>
            <a:ext cx="2258568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635E7E"/>
                </a:solidFill>
                <a:latin typeface="Aptos"/>
              </a:rPr>
              <a:t>Munchies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44952" y="5163502"/>
            <a:ext cx="3977640" cy="100812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044952" y="5163502"/>
            <a:ext cx="1657350" cy="100812"/>
          </a:xfrm>
          <a:prstGeom prst="round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50024" y="5126926"/>
            <a:ext cx="41148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C1452"/>
                </a:solidFill>
                <a:latin typeface="Aptos"/>
              </a:rPr>
              <a:t>12.50%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696140"/>
            <a:ext cx="2258568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635E7E"/>
                </a:solidFill>
                <a:latin typeface="Aptos"/>
              </a:rPr>
              <a:t>Packaged Food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44952" y="5723572"/>
            <a:ext cx="3977640" cy="100812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3044952" y="5723572"/>
            <a:ext cx="1538020" cy="100812"/>
          </a:xfrm>
          <a:prstGeom prst="round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50024" y="5686996"/>
            <a:ext cx="41148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1C1452"/>
                </a:solidFill>
                <a:latin typeface="Aptos"/>
              </a:rPr>
              <a:t>11.60%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35240" y="1691640"/>
            <a:ext cx="3429000" cy="4480560"/>
          </a:xfrm>
          <a:prstGeom prst="roundRect">
            <a:avLst/>
          </a:prstGeom>
          <a:solidFill>
            <a:srgbClr val="F1EA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27848" y="2011680"/>
            <a:ext cx="155448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 dirty="0">
                <a:solidFill>
                  <a:srgbClr val="E72380"/>
                </a:solidFill>
                <a:latin typeface="Aptos"/>
              </a:rPr>
              <a:t>HIGHEST SHOWN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27848" y="2487168"/>
            <a:ext cx="1828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C1452"/>
                </a:solidFill>
                <a:latin typeface="Aptos"/>
              </a:rPr>
              <a:t>28.57%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27848" y="3035808"/>
            <a:ext cx="18288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 dirty="0">
                <a:solidFill>
                  <a:srgbClr val="635E7E"/>
                </a:solidFill>
                <a:latin typeface="Aptos"/>
              </a:rPr>
              <a:t>Biscuits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27848" y="3566160"/>
            <a:ext cx="2423160" cy="37548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1C1452"/>
                </a:solidFill>
                <a:latin typeface="Aptos"/>
              </a:rPr>
              <a:t>Dairy, Bread &amp; Batter and Beverages are both shown at 21.71%.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27848" y="4892040"/>
            <a:ext cx="1234440" cy="329184"/>
          </a:xfrm>
          <a:prstGeom prst="roundRect">
            <a:avLst/>
          </a:prstGeom>
          <a:solidFill>
            <a:srgbClr val="FFE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973568" y="4952801"/>
            <a:ext cx="1143000" cy="1985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50" b="1" i="0" dirty="0">
                <a:solidFill>
                  <a:srgbClr val="E72380"/>
                </a:solidFill>
                <a:latin typeface="Aptos"/>
              </a:rPr>
              <a:t>Stockout focus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35240" y="5321808"/>
            <a:ext cx="34290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9D518C72-F1E0-F866-79B6-DCAF4389C8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9071" t="44595" r="39998" b="6756"/>
          <a:stretch>
            <a:fillRect/>
          </a:stretch>
        </p:blipFill>
        <p:spPr>
          <a:xfrm>
            <a:off x="7920000" y="5373156"/>
            <a:ext cx="2412000" cy="648000"/>
          </a:xfrm>
          <a:prstGeom prst="rect">
            <a:avLst/>
          </a:prstGeom>
        </p:spPr>
      </p:pic>
      <p:pic>
        <p:nvPicPr>
          <p:cNvPr id="47" name="Picture 46" descr="zepto_logo_light_theme.png">
            <a:extLst>
              <a:ext uri="{FF2B5EF4-FFF2-40B4-BE49-F238E27FC236}">
                <a16:creationId xmlns:a16="http://schemas.microsoft.com/office/drawing/2014/main" id="{335D5953-FCEB-E5AF-D42F-0F4295E6DC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61" r="14652"/>
          <a:stretch>
            <a:fillRect/>
          </a:stretch>
        </p:blipFill>
        <p:spPr>
          <a:xfrm>
            <a:off x="10716768" y="182880"/>
            <a:ext cx="936000" cy="43641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28600"/>
            <a:ext cx="338328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E72380"/>
                </a:solidFill>
                <a:latin typeface="Aptos"/>
              </a:rPr>
              <a:t>06 •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96012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C1452"/>
                </a:solidFill>
                <a:latin typeface="Aptos"/>
              </a:rPr>
              <a:t>Inventory value shows where capital is tied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0816" y="6428232"/>
            <a:ext cx="43891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35E7E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74793"/>
            <a:ext cx="2350008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 dirty="0">
                <a:solidFill>
                  <a:srgbClr val="635E7E"/>
                </a:solidFill>
                <a:latin typeface="Aptos"/>
              </a:rPr>
              <a:t>Cooking Essentials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36391" y="1802225"/>
            <a:ext cx="3977639" cy="99783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136391" y="1802225"/>
            <a:ext cx="3831387" cy="99783"/>
          </a:xfrm>
          <a:prstGeom prst="roundRect">
            <a:avLst/>
          </a:prstGeom>
          <a:solidFill>
            <a:srgbClr val="69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1725" y="1745042"/>
            <a:ext cx="57600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 i="0" dirty="0">
                <a:solidFill>
                  <a:srgbClr val="1C1452"/>
                </a:solidFill>
                <a:latin typeface="Aptos"/>
              </a:rPr>
              <a:t>₹337,</a:t>
            </a:r>
            <a:r>
              <a:rPr lang="en-IN" sz="1000" b="1" i="0" dirty="0">
                <a:solidFill>
                  <a:srgbClr val="1C1452"/>
                </a:solidFill>
                <a:latin typeface="Aptos"/>
              </a:rPr>
              <a:t>13</a:t>
            </a:r>
            <a:r>
              <a:rPr sz="1000" b="1" i="0" dirty="0">
                <a:solidFill>
                  <a:srgbClr val="1C1452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329148"/>
            <a:ext cx="2350008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35E7E"/>
                </a:solidFill>
                <a:latin typeface="Aptos"/>
              </a:rPr>
              <a:t>Munchies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36391" y="2356580"/>
            <a:ext cx="3977639" cy="99783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136391" y="2356580"/>
            <a:ext cx="3831387" cy="99783"/>
          </a:xfrm>
          <a:prstGeom prst="roundRect">
            <a:avLst/>
          </a:prstGeom>
          <a:solidFill>
            <a:srgbClr val="69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41464" y="2320004"/>
            <a:ext cx="50400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 i="0" dirty="0">
                <a:solidFill>
                  <a:srgbClr val="1C1452"/>
                </a:solidFill>
                <a:latin typeface="Aptos"/>
              </a:rPr>
              <a:t>₹337,31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883503"/>
            <a:ext cx="2350008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35E7E"/>
                </a:solidFill>
                <a:latin typeface="Aptos"/>
              </a:rPr>
              <a:t>Personal Care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36391" y="2910935"/>
            <a:ext cx="3977639" cy="99783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136391" y="2910935"/>
            <a:ext cx="3065351" cy="99783"/>
          </a:xfrm>
          <a:prstGeom prst="roundRect">
            <a:avLst/>
          </a:prstGeom>
          <a:solidFill>
            <a:srgbClr val="69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41464" y="2874359"/>
            <a:ext cx="57600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 i="0" dirty="0">
                <a:solidFill>
                  <a:srgbClr val="1C1452"/>
                </a:solidFill>
                <a:latin typeface="Aptos"/>
              </a:rPr>
              <a:t>₹269,726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437858"/>
            <a:ext cx="2350008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35E7E"/>
                </a:solidFill>
                <a:latin typeface="Aptos"/>
              </a:rPr>
              <a:t>Paan Corner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6391" y="3465290"/>
            <a:ext cx="3977639" cy="99783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136391" y="3465290"/>
            <a:ext cx="3065351" cy="99783"/>
          </a:xfrm>
          <a:prstGeom prst="roundRect">
            <a:avLst/>
          </a:prstGeom>
          <a:solidFill>
            <a:srgbClr val="69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41464" y="3428714"/>
            <a:ext cx="57600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 i="0" dirty="0">
                <a:solidFill>
                  <a:srgbClr val="1C1452"/>
                </a:solidFill>
                <a:latin typeface="Aptos"/>
              </a:rPr>
              <a:t>₹269,726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992213"/>
            <a:ext cx="2350008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35E7E"/>
                </a:solidFill>
                <a:latin typeface="Aptos"/>
              </a:rPr>
              <a:t>Packaged Food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36391" y="4019645"/>
            <a:ext cx="3977639" cy="99783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136391" y="4019645"/>
            <a:ext cx="2550065" cy="99783"/>
          </a:xfrm>
          <a:prstGeom prst="roundRect">
            <a:avLst/>
          </a:prstGeom>
          <a:solidFill>
            <a:srgbClr val="69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41464" y="3983069"/>
            <a:ext cx="57600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 i="0" dirty="0">
                <a:solidFill>
                  <a:srgbClr val="1C1452"/>
                </a:solidFill>
                <a:latin typeface="Aptos"/>
              </a:rPr>
              <a:t>₹224,385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546568"/>
            <a:ext cx="2350008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35E7E"/>
                </a:solidFill>
                <a:latin typeface="Aptos"/>
              </a:rPr>
              <a:t>Ice Cream &amp; Desserts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36391" y="4574000"/>
            <a:ext cx="3977639" cy="99783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136391" y="4574000"/>
            <a:ext cx="2550065" cy="99783"/>
          </a:xfrm>
          <a:prstGeom prst="roundRect">
            <a:avLst/>
          </a:prstGeom>
          <a:solidFill>
            <a:srgbClr val="69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41464" y="4537424"/>
            <a:ext cx="57600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 i="0" dirty="0">
                <a:solidFill>
                  <a:srgbClr val="1C1452"/>
                </a:solidFill>
                <a:latin typeface="Aptos"/>
              </a:rPr>
              <a:t>₹224,385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100923"/>
            <a:ext cx="2350008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35E7E"/>
                </a:solidFill>
                <a:latin typeface="Aptos"/>
              </a:rPr>
              <a:t>Chocolates &amp; Candies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36391" y="5128355"/>
            <a:ext cx="3977639" cy="99783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136391" y="5128355"/>
            <a:ext cx="2550065" cy="99783"/>
          </a:xfrm>
          <a:prstGeom prst="roundRect">
            <a:avLst/>
          </a:prstGeom>
          <a:solidFill>
            <a:srgbClr val="69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41464" y="5091779"/>
            <a:ext cx="57600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 i="0" dirty="0">
                <a:solidFill>
                  <a:srgbClr val="1C1452"/>
                </a:solidFill>
                <a:latin typeface="Aptos"/>
              </a:rPr>
              <a:t>₹224,385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655278"/>
            <a:ext cx="2350008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35E7E"/>
                </a:solidFill>
                <a:latin typeface="Aptos"/>
              </a:rPr>
              <a:t>Home &amp; Cleaning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36391" y="5682710"/>
            <a:ext cx="3977639" cy="99783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3136391" y="5682710"/>
            <a:ext cx="1394003" cy="99783"/>
          </a:xfrm>
          <a:prstGeom prst="roundRect">
            <a:avLst/>
          </a:prstGeom>
          <a:solidFill>
            <a:srgbClr val="69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41464" y="5646134"/>
            <a:ext cx="576000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00" b="1" i="0" dirty="0">
                <a:solidFill>
                  <a:srgbClr val="1C1452"/>
                </a:solidFill>
                <a:latin typeface="Aptos"/>
              </a:rPr>
              <a:t>₹122,661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91856" y="1604772"/>
            <a:ext cx="3291840" cy="4434840"/>
          </a:xfrm>
          <a:prstGeom prst="roundRect">
            <a:avLst/>
          </a:prstGeom>
          <a:solidFill>
            <a:srgbClr val="FFE5E6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65008" y="2011680"/>
            <a:ext cx="20116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E72380"/>
                </a:solidFill>
                <a:latin typeface="Aptos"/>
              </a:rPr>
              <a:t>TOP CATEGORY VALUE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008" y="2487168"/>
            <a:ext cx="20116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900" b="1" i="0">
                <a:solidFill>
                  <a:srgbClr val="1C1452"/>
                </a:solidFill>
                <a:latin typeface="Aptos"/>
              </a:rPr>
              <a:t>₹337,131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65008" y="3063240"/>
            <a:ext cx="22860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635E7E"/>
                </a:solidFill>
                <a:latin typeface="Aptos"/>
              </a:rPr>
              <a:t>Cooking Essentials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65008" y="3529584"/>
            <a:ext cx="22860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80" b="0" i="0">
                <a:solidFill>
                  <a:srgbClr val="1C1452"/>
                </a:solidFill>
                <a:latin typeface="Aptos"/>
              </a:rPr>
              <a:t>Munchies also shows ₹337,131.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65008" y="4114800"/>
            <a:ext cx="237744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30" b="0" i="0">
                <a:solidFill>
                  <a:srgbClr val="635E7E"/>
                </a:solidFill>
                <a:latin typeface="Aptos"/>
              </a:rPr>
              <a:t>Inventory value = discounted selling price × available quantity in the supplied SQL.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32164" y="4546568"/>
            <a:ext cx="132588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959015" y="4609433"/>
            <a:ext cx="1234439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1" i="0" dirty="0">
                <a:solidFill>
                  <a:srgbClr val="E72380"/>
                </a:solidFill>
                <a:latin typeface="Aptos"/>
              </a:rPr>
              <a:t>Not sales revenue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08618" y="4954905"/>
            <a:ext cx="2006042" cy="1005967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E1E4A106-D8C1-CF48-7B47-4AB964A158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74" t="50000" r="64676"/>
          <a:stretch>
            <a:fillRect/>
          </a:stretch>
        </p:blipFill>
        <p:spPr>
          <a:xfrm>
            <a:off x="8740140" y="5021580"/>
            <a:ext cx="1702307" cy="939292"/>
          </a:xfrm>
          <a:prstGeom prst="rect">
            <a:avLst/>
          </a:prstGeom>
        </p:spPr>
      </p:pic>
      <p:pic>
        <p:nvPicPr>
          <p:cNvPr id="48" name="Picture 47" descr="zepto_logo_light_theme.png">
            <a:extLst>
              <a:ext uri="{FF2B5EF4-FFF2-40B4-BE49-F238E27FC236}">
                <a16:creationId xmlns:a16="http://schemas.microsoft.com/office/drawing/2014/main" id="{77270D4D-D039-6E27-9B0F-096C181066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61" r="14652"/>
          <a:stretch>
            <a:fillRect/>
          </a:stretch>
        </p:blipFill>
        <p:spPr>
          <a:xfrm>
            <a:off x="10716768" y="182880"/>
            <a:ext cx="936000" cy="43641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28600"/>
            <a:ext cx="338328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E72380"/>
                </a:solidFill>
                <a:latin typeface="Aptos"/>
              </a:rPr>
              <a:t>06 •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96012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C1452"/>
                </a:solidFill>
                <a:latin typeface="Aptos"/>
              </a:rPr>
              <a:t>A risk view: expensive products that are unavailable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0816" y="6428232"/>
            <a:ext cx="43891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35E7E"/>
                </a:solidFill>
                <a:latin typeface="Apto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7543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12480" y="1691640"/>
            <a:ext cx="2651760" cy="4343400"/>
          </a:xfrm>
          <a:prstGeom prst="roundRect">
            <a:avLst/>
          </a:prstGeom>
          <a:solidFill>
            <a:srgbClr val="F1EA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59368" y="1984248"/>
            <a:ext cx="205740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 dirty="0">
                <a:solidFill>
                  <a:srgbClr val="E72380"/>
                </a:solidFill>
                <a:latin typeface="Aptos"/>
              </a:rPr>
              <a:t>WHAT I WOULD REVIEW</a:t>
            </a:r>
          </a:p>
        </p:txBody>
      </p:sp>
      <p:sp>
        <p:nvSpPr>
          <p:cNvPr id="10" name="Oval 9"/>
          <p:cNvSpPr/>
          <p:nvPr/>
        </p:nvSpPr>
        <p:spPr>
          <a:xfrm>
            <a:off x="8659368" y="2468880"/>
            <a:ext cx="347472" cy="347472"/>
          </a:xfrm>
          <a:prstGeom prst="ellipse">
            <a:avLst/>
          </a:prstGeom>
          <a:solidFill>
            <a:srgbClr val="E7F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59368" y="2505456"/>
            <a:ext cx="347472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6930A0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2487168"/>
            <a:ext cx="14173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C1452"/>
                </a:solidFill>
                <a:latin typeface="Aptos"/>
              </a:rPr>
              <a:t>Selling price</a:t>
            </a:r>
          </a:p>
        </p:txBody>
      </p:sp>
      <p:sp>
        <p:nvSpPr>
          <p:cNvPr id="13" name="Oval 12"/>
          <p:cNvSpPr/>
          <p:nvPr/>
        </p:nvSpPr>
        <p:spPr>
          <a:xfrm>
            <a:off x="8659368" y="3072384"/>
            <a:ext cx="347472" cy="347472"/>
          </a:xfrm>
          <a:prstGeom prst="ellipse">
            <a:avLst/>
          </a:prstGeom>
          <a:solidFill>
            <a:srgbClr val="E7F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59368" y="3108960"/>
            <a:ext cx="347472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6930A0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3090672"/>
            <a:ext cx="14173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C1452"/>
                </a:solidFill>
                <a:latin typeface="Aptos"/>
              </a:rPr>
              <a:t>Customer savings</a:t>
            </a:r>
          </a:p>
        </p:txBody>
      </p:sp>
      <p:sp>
        <p:nvSpPr>
          <p:cNvPr id="16" name="Oval 15"/>
          <p:cNvSpPr/>
          <p:nvPr/>
        </p:nvSpPr>
        <p:spPr>
          <a:xfrm>
            <a:off x="8659368" y="3675888"/>
            <a:ext cx="347472" cy="347472"/>
          </a:xfrm>
          <a:prstGeom prst="ellipse">
            <a:avLst/>
          </a:prstGeom>
          <a:solidFill>
            <a:srgbClr val="E7F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59368" y="3712464"/>
            <a:ext cx="347472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6930A0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3694176"/>
            <a:ext cx="14173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C1452"/>
                </a:solidFill>
                <a:latin typeface="Aptos"/>
              </a:rPr>
              <a:t>Category</a:t>
            </a:r>
          </a:p>
        </p:txBody>
      </p:sp>
      <p:sp>
        <p:nvSpPr>
          <p:cNvPr id="19" name="Oval 18"/>
          <p:cNvSpPr/>
          <p:nvPr/>
        </p:nvSpPr>
        <p:spPr>
          <a:xfrm>
            <a:off x="8659368" y="4279392"/>
            <a:ext cx="347472" cy="347472"/>
          </a:xfrm>
          <a:prstGeom prst="ellipse">
            <a:avLst/>
          </a:prstGeom>
          <a:solidFill>
            <a:srgbClr val="E7F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59368" y="4315968"/>
            <a:ext cx="347472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6930A0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4297679"/>
            <a:ext cx="14173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1C1452"/>
                </a:solidFill>
                <a:latin typeface="Aptos"/>
              </a:rPr>
              <a:t>Stock status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59368" y="5074920"/>
            <a:ext cx="1737360" cy="329184"/>
          </a:xfrm>
          <a:prstGeom prst="roundRect">
            <a:avLst/>
          </a:prstGeom>
          <a:solidFill>
            <a:srgbClr val="FFE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05088" y="5139529"/>
            <a:ext cx="1645919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 i="0" dirty="0">
                <a:solidFill>
                  <a:srgbClr val="E72380"/>
                </a:solidFill>
                <a:latin typeface="Aptos"/>
              </a:rPr>
              <a:t>Priority inventory review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53C9B3A-15B4-948D-2D7E-519C29D8F1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64" t="44777" r="1190" b="1990"/>
          <a:stretch>
            <a:fillRect/>
          </a:stretch>
        </p:blipFill>
        <p:spPr>
          <a:xfrm>
            <a:off x="1008000" y="1923624"/>
            <a:ext cx="6947280" cy="3852000"/>
          </a:xfrm>
          <a:prstGeom prst="rect">
            <a:avLst/>
          </a:prstGeom>
        </p:spPr>
      </p:pic>
      <p:pic>
        <p:nvPicPr>
          <p:cNvPr id="24" name="Picture 23" descr="zepto_logo_light_theme.png">
            <a:extLst>
              <a:ext uri="{FF2B5EF4-FFF2-40B4-BE49-F238E27FC236}">
                <a16:creationId xmlns:a16="http://schemas.microsoft.com/office/drawing/2014/main" id="{E90784CA-374E-D122-3ADE-976D8EB73C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61" r="14652"/>
          <a:stretch>
            <a:fillRect/>
          </a:stretch>
        </p:blipFill>
        <p:spPr>
          <a:xfrm>
            <a:off x="10716768" y="182880"/>
            <a:ext cx="936000" cy="43641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28600"/>
            <a:ext cx="338328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E72380"/>
                </a:solidFill>
                <a:latin typeface="Aptos"/>
              </a:rPr>
              <a:t>06 •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96012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C1452"/>
                </a:solidFill>
                <a:latin typeface="Aptos"/>
              </a:rPr>
              <a:t>Weight segmentation adds a physical inventory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0816" y="6428232"/>
            <a:ext cx="43891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35E7E"/>
                </a:solidFill>
                <a:latin typeface="Apto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67208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62179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 dirty="0">
                <a:solidFill>
                  <a:srgbClr val="635E7E"/>
                </a:solidFill>
                <a:latin typeface="Aptos"/>
              </a:rPr>
              <a:t>LOW &lt; 1kg   •   MEDIUM 1–5kg   •   BULK ≥ 5kg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95728"/>
            <a:ext cx="178308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 dirty="0">
                <a:solidFill>
                  <a:srgbClr val="635E7E"/>
                </a:solidFill>
                <a:latin typeface="Aptos"/>
              </a:rPr>
              <a:t>Beverages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432304"/>
            <a:ext cx="961638" cy="146304"/>
          </a:xfrm>
          <a:prstGeom prst="roundRect">
            <a:avLst/>
          </a:prstGeom>
          <a:solidFill>
            <a:srgbClr val="BCE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50558" y="2432304"/>
            <a:ext cx="63579" cy="146304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814137" y="2432304"/>
            <a:ext cx="0" cy="146304"/>
          </a:xfrm>
          <a:prstGeom prst="roundRect">
            <a:avLst/>
          </a:prstGeom>
          <a:solidFill>
            <a:srgbClr val="FFE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825496"/>
            <a:ext cx="178308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 dirty="0">
                <a:solidFill>
                  <a:srgbClr val="635E7E"/>
                </a:solidFill>
                <a:latin typeface="Aptos"/>
              </a:rPr>
              <a:t>Biscuits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2862072"/>
            <a:ext cx="1160323" cy="146304"/>
          </a:xfrm>
          <a:prstGeom prst="roundRect">
            <a:avLst/>
          </a:prstGeom>
          <a:solidFill>
            <a:srgbClr val="BCE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949243" y="2862072"/>
            <a:ext cx="7947" cy="146304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957191" y="2862072"/>
            <a:ext cx="0" cy="146304"/>
          </a:xfrm>
          <a:prstGeom prst="roundRect">
            <a:avLst/>
          </a:prstGeom>
          <a:solidFill>
            <a:srgbClr val="FFE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255264"/>
            <a:ext cx="178308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35E7E"/>
                </a:solidFill>
                <a:latin typeface="Aptos"/>
              </a:rPr>
              <a:t>Chocolates &amp; Candies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8920" y="3291840"/>
            <a:ext cx="2916703" cy="146304"/>
          </a:xfrm>
          <a:prstGeom prst="roundRect">
            <a:avLst/>
          </a:prstGeom>
          <a:solidFill>
            <a:srgbClr val="BCE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705623" y="3291840"/>
            <a:ext cx="166895" cy="146304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872519" y="3291840"/>
            <a:ext cx="0" cy="146304"/>
          </a:xfrm>
          <a:prstGeom prst="roundRect">
            <a:avLst/>
          </a:prstGeom>
          <a:solidFill>
            <a:srgbClr val="FFE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685032"/>
            <a:ext cx="178308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35E7E"/>
                </a:solidFill>
                <a:latin typeface="Aptos"/>
              </a:rPr>
              <a:t>Cooking Essentials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88920" y="3721608"/>
            <a:ext cx="3314074" cy="146304"/>
          </a:xfrm>
          <a:prstGeom prst="roundRect">
            <a:avLst/>
          </a:prstGeom>
          <a:solidFill>
            <a:srgbClr val="BCE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02994" y="3721608"/>
            <a:ext cx="572214" cy="146304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675209" y="3721608"/>
            <a:ext cx="182790" cy="146304"/>
          </a:xfrm>
          <a:prstGeom prst="roundRect">
            <a:avLst/>
          </a:prstGeom>
          <a:solidFill>
            <a:srgbClr val="FFE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114800"/>
            <a:ext cx="178308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35E7E"/>
                </a:solidFill>
                <a:latin typeface="Aptos"/>
              </a:rPr>
              <a:t>Dairy, Bread &amp; Batter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8920" y="4151376"/>
            <a:ext cx="961638" cy="146304"/>
          </a:xfrm>
          <a:prstGeom prst="roundRect">
            <a:avLst/>
          </a:prstGeom>
          <a:solidFill>
            <a:srgbClr val="BCE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750558" y="4151376"/>
            <a:ext cx="63579" cy="146304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814137" y="4151376"/>
            <a:ext cx="0" cy="146304"/>
          </a:xfrm>
          <a:prstGeom prst="roundRect">
            <a:avLst/>
          </a:prstGeom>
          <a:solidFill>
            <a:srgbClr val="FFE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544568"/>
            <a:ext cx="178308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35E7E"/>
                </a:solidFill>
                <a:latin typeface="Aptos"/>
              </a:rPr>
              <a:t>Fruits &amp; Vegetables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88920" y="4581144"/>
            <a:ext cx="683478" cy="146304"/>
          </a:xfrm>
          <a:prstGeom prst="roundRect">
            <a:avLst/>
          </a:prstGeom>
          <a:solidFill>
            <a:srgbClr val="BCE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472398" y="4581144"/>
            <a:ext cx="55631" cy="146304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528030" y="4581144"/>
            <a:ext cx="0" cy="146304"/>
          </a:xfrm>
          <a:prstGeom prst="roundRect">
            <a:avLst/>
          </a:prstGeom>
          <a:solidFill>
            <a:srgbClr val="FFE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4974336"/>
            <a:ext cx="178308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35E7E"/>
                </a:solidFill>
                <a:latin typeface="Aptos"/>
              </a:rPr>
              <a:t>Health &amp; Hygiene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88920" y="5010912"/>
            <a:ext cx="691425" cy="146304"/>
          </a:xfrm>
          <a:prstGeom prst="roundRect">
            <a:avLst/>
          </a:prstGeom>
          <a:solidFill>
            <a:srgbClr val="BCE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480345" y="5010912"/>
            <a:ext cx="79474" cy="146304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559819" y="5010912"/>
            <a:ext cx="0" cy="146304"/>
          </a:xfrm>
          <a:prstGeom prst="roundRect">
            <a:avLst/>
          </a:prstGeom>
          <a:solidFill>
            <a:srgbClr val="FFE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5404104"/>
            <a:ext cx="178308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35E7E"/>
                </a:solidFill>
                <a:latin typeface="Aptos"/>
              </a:rPr>
              <a:t>Home &amp; Cleaning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88920" y="5440680"/>
            <a:ext cx="1255692" cy="146304"/>
          </a:xfrm>
          <a:prstGeom prst="roundRect">
            <a:avLst/>
          </a:prstGeom>
          <a:solidFill>
            <a:srgbClr val="BCE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044612" y="5440680"/>
            <a:ext cx="278159" cy="146304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322772" y="5440680"/>
            <a:ext cx="0" cy="146304"/>
          </a:xfrm>
          <a:prstGeom prst="roundRect">
            <a:avLst/>
          </a:prstGeom>
          <a:solidFill>
            <a:srgbClr val="FFE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635240" y="1645920"/>
            <a:ext cx="3429000" cy="4526280"/>
          </a:xfrm>
          <a:prstGeom prst="roundRect">
            <a:avLst/>
          </a:prstGeom>
          <a:solidFill>
            <a:srgbClr val="E7F9E2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27848" y="1965960"/>
            <a:ext cx="128016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 dirty="0">
                <a:solidFill>
                  <a:srgbClr val="E72380"/>
                </a:solidFill>
                <a:latin typeface="Aptos"/>
              </a:rPr>
              <a:t>NOTABLE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27848" y="2450592"/>
            <a:ext cx="233172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 dirty="0">
                <a:solidFill>
                  <a:srgbClr val="1C1452"/>
                </a:solidFill>
                <a:latin typeface="Aptos"/>
              </a:rPr>
              <a:t>Cooking </a:t>
            </a:r>
            <a:r>
              <a:rPr sz="1400" b="1" i="0" dirty="0">
                <a:solidFill>
                  <a:srgbClr val="1C1452"/>
                </a:solidFill>
                <a:latin typeface="Aptos"/>
              </a:rPr>
              <a:t>Essentials</a:t>
            </a:r>
            <a:endParaRPr sz="1300" b="1" i="0" dirty="0">
              <a:solidFill>
                <a:srgbClr val="1C1452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927848" y="2862072"/>
            <a:ext cx="246888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i="0" dirty="0">
                <a:solidFill>
                  <a:srgbClr val="635E7E"/>
                </a:solidFill>
                <a:latin typeface="Aptos"/>
              </a:rPr>
              <a:t>417 low • 72 medium • 23 bulk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27848" y="3401568"/>
            <a:ext cx="2514600" cy="37548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1C1452"/>
                </a:solidFill>
                <a:latin typeface="Aptos"/>
              </a:rPr>
              <a:t>Munchies shows the same segment counts in the supplied output.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27848" y="4407408"/>
            <a:ext cx="132588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973568" y="4472017"/>
            <a:ext cx="1234439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 i="0" dirty="0">
                <a:solidFill>
                  <a:srgbClr val="6930A0"/>
                </a:solidFill>
                <a:latin typeface="Aptos"/>
              </a:rPr>
              <a:t>Physical assortment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35240" y="4839320"/>
            <a:ext cx="3429000" cy="1332880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231402D2-6461-8389-F896-0B17E230FF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14" t="48892" r="50869" b="384"/>
          <a:stretch>
            <a:fillRect/>
          </a:stretch>
        </p:blipFill>
        <p:spPr>
          <a:xfrm>
            <a:off x="8283692" y="4902703"/>
            <a:ext cx="2010420" cy="1260000"/>
          </a:xfrm>
          <a:prstGeom prst="rect">
            <a:avLst/>
          </a:prstGeom>
        </p:spPr>
      </p:pic>
      <p:pic>
        <p:nvPicPr>
          <p:cNvPr id="49" name="Picture 48" descr="zepto_logo_light_theme.png">
            <a:extLst>
              <a:ext uri="{FF2B5EF4-FFF2-40B4-BE49-F238E27FC236}">
                <a16:creationId xmlns:a16="http://schemas.microsoft.com/office/drawing/2014/main" id="{131557A7-3104-3891-0F6B-AF801AB9D2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61" r="14652"/>
          <a:stretch>
            <a:fillRect/>
          </a:stretch>
        </p:blipFill>
        <p:spPr>
          <a:xfrm>
            <a:off x="10716768" y="182880"/>
            <a:ext cx="936000" cy="43641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28600"/>
            <a:ext cx="338328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E72380"/>
                </a:solidFill>
                <a:latin typeface="Aptos"/>
              </a:rPr>
              <a:t>07 •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96012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C1452"/>
                </a:solidFill>
                <a:latin typeface="Aptos"/>
              </a:rPr>
              <a:t>Discount intensity does not move linearly with OOS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0816" y="6428232"/>
            <a:ext cx="43891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35E7E"/>
                </a:solidFill>
                <a:latin typeface="Aptos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938528" cy="3337560"/>
          </a:xfrm>
          <a:prstGeom prst="roundRect">
            <a:avLst/>
          </a:prstGeom>
          <a:solidFill>
            <a:srgbClr val="F1EA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2057400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C1452"/>
                </a:solidFill>
                <a:latin typeface="Aptos"/>
              </a:rPr>
              <a:t>0–10%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51760"/>
            <a:ext cx="13716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6930A0"/>
                </a:solidFill>
                <a:latin typeface="Aptos"/>
              </a:rPr>
              <a:t>2,443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026664"/>
            <a:ext cx="1188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635E7E"/>
                </a:solidFill>
                <a:latin typeface="Aptos"/>
              </a:rPr>
              <a:t>products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456432"/>
            <a:ext cx="146304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E72380"/>
                </a:solidFill>
                <a:latin typeface="Aptos"/>
              </a:rPr>
              <a:t>15.35%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858768"/>
            <a:ext cx="1188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635E7E"/>
                </a:solidFill>
                <a:latin typeface="Aptos"/>
              </a:rPr>
              <a:t>OOS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4297680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C1452"/>
                </a:solidFill>
                <a:latin typeface="Aptos"/>
              </a:rPr>
              <a:t>₹4.75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4608576"/>
            <a:ext cx="1188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635E7E"/>
                </a:solidFill>
                <a:latin typeface="Aptos"/>
              </a:rPr>
              <a:t>avg savings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71215" y="1783080"/>
            <a:ext cx="1938528" cy="3337560"/>
          </a:xfrm>
          <a:prstGeom prst="roundRect">
            <a:avLst/>
          </a:prstGeom>
          <a:solidFill>
            <a:srgbClr val="FFE5E6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72384" y="2057400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C1452"/>
                </a:solidFill>
                <a:latin typeface="Aptos"/>
              </a:rPr>
              <a:t>10–20%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384" y="2651760"/>
            <a:ext cx="13716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6930A0"/>
                </a:solidFill>
                <a:latin typeface="Aptos"/>
              </a:rPr>
              <a:t>934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2384" y="3026664"/>
            <a:ext cx="1188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635E7E"/>
                </a:solidFill>
                <a:latin typeface="Aptos"/>
              </a:rPr>
              <a:t>products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2384" y="3456432"/>
            <a:ext cx="146304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E72380"/>
                </a:solidFill>
                <a:latin typeface="Aptos"/>
              </a:rPr>
              <a:t>6.10%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58768"/>
            <a:ext cx="1188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635E7E"/>
                </a:solidFill>
                <a:latin typeface="Aptos"/>
              </a:rPr>
              <a:t>OOS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72384" y="4297680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C1452"/>
                </a:solidFill>
                <a:latin typeface="Aptos"/>
              </a:rPr>
              <a:t>₹20.93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4608576"/>
            <a:ext cx="1188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635E7E"/>
                </a:solidFill>
                <a:latin typeface="Aptos"/>
              </a:rPr>
              <a:t>avg savings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84064" y="1783080"/>
            <a:ext cx="1938528" cy="3337560"/>
          </a:xfrm>
          <a:prstGeom prst="roundRect">
            <a:avLst/>
          </a:prstGeom>
          <a:solidFill>
            <a:srgbClr val="E7F9E2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85231" y="2057400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C1452"/>
                </a:solidFill>
                <a:latin typeface="Aptos"/>
              </a:rPr>
              <a:t>20–30%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5231" y="2651760"/>
            <a:ext cx="13716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6930A0"/>
                </a:solidFill>
                <a:latin typeface="Aptos"/>
              </a:rPr>
              <a:t>203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1" y="3026664"/>
            <a:ext cx="1188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635E7E"/>
                </a:solidFill>
                <a:latin typeface="Aptos"/>
              </a:rPr>
              <a:t>products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85231" y="3456432"/>
            <a:ext cx="146304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E72380"/>
                </a:solidFill>
                <a:latin typeface="Aptos"/>
              </a:rPr>
              <a:t>4.93%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5231" y="3858768"/>
            <a:ext cx="1188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635E7E"/>
                </a:solidFill>
                <a:latin typeface="Aptos"/>
              </a:rPr>
              <a:t>OOS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5231" y="4297680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C1452"/>
                </a:solidFill>
                <a:latin typeface="Aptos"/>
              </a:rPr>
              <a:t>₹47.03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5231" y="4608576"/>
            <a:ext cx="1188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635E7E"/>
                </a:solidFill>
                <a:latin typeface="Aptos"/>
              </a:rPr>
              <a:t>avg savings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96912" y="1783080"/>
            <a:ext cx="1938528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98079" y="2057400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C1452"/>
                </a:solidFill>
                <a:latin typeface="Aptos"/>
              </a:rPr>
              <a:t>30–40%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2651760"/>
            <a:ext cx="13716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6930A0"/>
                </a:solidFill>
                <a:latin typeface="Aptos"/>
              </a:rPr>
              <a:t>64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3026664"/>
            <a:ext cx="1188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635E7E"/>
                </a:solidFill>
                <a:latin typeface="Aptos"/>
              </a:rPr>
              <a:t>products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3456432"/>
            <a:ext cx="146304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E72380"/>
                </a:solidFill>
                <a:latin typeface="Aptos"/>
              </a:rPr>
              <a:t>0.00%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3858768"/>
            <a:ext cx="1188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635E7E"/>
                </a:solidFill>
                <a:latin typeface="Aptos"/>
              </a:rPr>
              <a:t>OOS 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4297680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C1452"/>
                </a:solidFill>
                <a:latin typeface="Aptos"/>
              </a:rPr>
              <a:t>₹46.42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4608576"/>
            <a:ext cx="1188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635E7E"/>
                </a:solidFill>
                <a:latin typeface="Aptos"/>
              </a:rPr>
              <a:t>avg savings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09760" y="1783080"/>
            <a:ext cx="1938528" cy="3337560"/>
          </a:xfrm>
          <a:prstGeom prst="roundRect">
            <a:avLst/>
          </a:prstGeom>
          <a:solidFill>
            <a:srgbClr val="F1EA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710928" y="2057400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C1452"/>
                </a:solidFill>
                <a:latin typeface="Aptos"/>
              </a:rPr>
              <a:t>40%+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10928" y="2651760"/>
            <a:ext cx="13716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6930A0"/>
                </a:solidFill>
                <a:latin typeface="Aptos"/>
              </a:rPr>
              <a:t>79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10928" y="3026664"/>
            <a:ext cx="1188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635E7E"/>
                </a:solidFill>
                <a:latin typeface="Aptos"/>
              </a:rPr>
              <a:t>products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10928" y="3456432"/>
            <a:ext cx="146304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E72380"/>
                </a:solidFill>
                <a:latin typeface="Aptos"/>
              </a:rPr>
              <a:t>13.92%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10928" y="3858768"/>
            <a:ext cx="1188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635E7E"/>
                </a:solidFill>
                <a:latin typeface="Aptos"/>
              </a:rPr>
              <a:t>OOS 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10928" y="4297680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C1452"/>
                </a:solidFill>
                <a:latin typeface="Aptos"/>
              </a:rPr>
              <a:t>₹148.97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10928" y="4608576"/>
            <a:ext cx="1188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635E7E"/>
                </a:solidFill>
                <a:latin typeface="Aptos"/>
              </a:rPr>
              <a:t>avg savings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" y="5413248"/>
            <a:ext cx="1051560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56F493A-3439-7159-14C6-0A041CD908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19" t="77660" r="38562" b="1063"/>
          <a:stretch>
            <a:fillRect/>
          </a:stretch>
        </p:blipFill>
        <p:spPr>
          <a:xfrm>
            <a:off x="2322576" y="5483630"/>
            <a:ext cx="6336000" cy="720000"/>
          </a:xfrm>
          <a:prstGeom prst="rect">
            <a:avLst/>
          </a:prstGeom>
        </p:spPr>
      </p:pic>
      <p:pic>
        <p:nvPicPr>
          <p:cNvPr id="48" name="Picture 47" descr="zepto_logo_light_theme.png">
            <a:extLst>
              <a:ext uri="{FF2B5EF4-FFF2-40B4-BE49-F238E27FC236}">
                <a16:creationId xmlns:a16="http://schemas.microsoft.com/office/drawing/2014/main" id="{238F3A1B-BD62-2165-96BF-648C406790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61" r="14652"/>
          <a:stretch>
            <a:fillRect/>
          </a:stretch>
        </p:blipFill>
        <p:spPr>
          <a:xfrm>
            <a:off x="10716768" y="182880"/>
            <a:ext cx="936000" cy="43641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28600"/>
            <a:ext cx="338328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E72380"/>
                </a:solidFill>
                <a:latin typeface="Aptos"/>
              </a:rPr>
              <a:t>07 • BENCHMARKING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96012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C1452"/>
                </a:solidFill>
                <a:latin typeface="Aptos"/>
              </a:rPr>
              <a:t>Which categories sit above the platform discount average?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33856"/>
            <a:ext cx="96012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 dirty="0">
                <a:solidFill>
                  <a:srgbClr val="635E7E"/>
                </a:solidFill>
                <a:latin typeface="Aptos"/>
              </a:rPr>
              <a:t>Overall average discount: 7.63%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0816" y="6428232"/>
            <a:ext cx="43891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35E7E"/>
                </a:solidFill>
                <a:latin typeface="Apto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38801"/>
            <a:ext cx="2258568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 dirty="0">
                <a:solidFill>
                  <a:srgbClr val="635E7E"/>
                </a:solidFill>
                <a:latin typeface="Aptos"/>
              </a:rPr>
              <a:t>Fruits &amp; Vegetables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4952" y="1866233"/>
            <a:ext cx="3977640" cy="99783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044952" y="1866233"/>
            <a:ext cx="3798161" cy="99783"/>
          </a:xfrm>
          <a:prstGeom prst="round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50024" y="1829657"/>
            <a:ext cx="468000" cy="1940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80" b="1" i="0" dirty="0">
                <a:solidFill>
                  <a:srgbClr val="1C1452"/>
                </a:solidFill>
                <a:latin typeface="Aptos"/>
              </a:rPr>
              <a:t>+7.83 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93156"/>
            <a:ext cx="2258568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35E7E"/>
                </a:solidFill>
                <a:latin typeface="Aptos"/>
              </a:rPr>
              <a:t>Meats, Fish &amp; Eggs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44952" y="2420588"/>
            <a:ext cx="3977640" cy="99783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044952" y="2420588"/>
            <a:ext cx="1649265" cy="99783"/>
          </a:xfrm>
          <a:prstGeom prst="round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50024" y="2384012"/>
            <a:ext cx="468000" cy="1940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80" b="1" i="0" dirty="0">
                <a:solidFill>
                  <a:srgbClr val="1C1452"/>
                </a:solidFill>
                <a:latin typeface="Aptos"/>
              </a:rPr>
              <a:t>+3.40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947511"/>
            <a:ext cx="2258568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35E7E"/>
                </a:solidFill>
                <a:latin typeface="Aptos"/>
              </a:rPr>
              <a:t>Packaged Food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44952" y="2974943"/>
            <a:ext cx="3977640" cy="99783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044952" y="2974943"/>
            <a:ext cx="339554" cy="99783"/>
          </a:xfrm>
          <a:prstGeom prst="round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50024" y="2938367"/>
            <a:ext cx="468000" cy="1940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80" b="1" i="0" dirty="0">
                <a:solidFill>
                  <a:srgbClr val="1C1452"/>
                </a:solidFill>
                <a:latin typeface="Aptos"/>
              </a:rPr>
              <a:t>+0.70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501866"/>
            <a:ext cx="2258568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35E7E"/>
                </a:solidFill>
                <a:latin typeface="Aptos"/>
              </a:rPr>
              <a:t>Ice Cream &amp; Desserts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44952" y="3529298"/>
            <a:ext cx="3977640" cy="99783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044952" y="3529298"/>
            <a:ext cx="339554" cy="99783"/>
          </a:xfrm>
          <a:prstGeom prst="round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50024" y="3492722"/>
            <a:ext cx="468000" cy="1940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80" b="1" i="0" dirty="0">
                <a:solidFill>
                  <a:srgbClr val="1C1452"/>
                </a:solidFill>
                <a:latin typeface="Aptos"/>
              </a:rPr>
              <a:t>+0.70 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056221"/>
            <a:ext cx="2258568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35E7E"/>
                </a:solidFill>
                <a:latin typeface="Aptos"/>
              </a:rPr>
              <a:t>Chocolates &amp; Candies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44952" y="4083653"/>
            <a:ext cx="3977640" cy="99783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044952" y="4083653"/>
            <a:ext cx="339554" cy="99783"/>
          </a:xfrm>
          <a:prstGeom prst="round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50024" y="4047077"/>
            <a:ext cx="468000" cy="1940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80" b="1" i="0" dirty="0">
                <a:solidFill>
                  <a:srgbClr val="1C1452"/>
                </a:solidFill>
                <a:latin typeface="Aptos"/>
              </a:rPr>
              <a:t>+0.70 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610576"/>
            <a:ext cx="2258568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35E7E"/>
                </a:solidFill>
                <a:latin typeface="Aptos"/>
              </a:rPr>
              <a:t>Biscuits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44952" y="4638008"/>
            <a:ext cx="3977640" cy="99783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044952" y="4638008"/>
            <a:ext cx="300748" cy="99783"/>
          </a:xfrm>
          <a:prstGeom prst="round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50024" y="4601432"/>
            <a:ext cx="468000" cy="1940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80" b="1" i="0" dirty="0">
                <a:solidFill>
                  <a:srgbClr val="1C1452"/>
                </a:solidFill>
                <a:latin typeface="Aptos"/>
              </a:rPr>
              <a:t>+0.62 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164931"/>
            <a:ext cx="2258568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35E7E"/>
                </a:solidFill>
                <a:latin typeface="Aptos"/>
              </a:rPr>
              <a:t>Health &amp; Hygiene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44952" y="5192363"/>
            <a:ext cx="3977640" cy="99783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044952" y="5192363"/>
            <a:ext cx="203732" cy="99783"/>
          </a:xfrm>
          <a:prstGeom prst="round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50024" y="5155787"/>
            <a:ext cx="468000" cy="1940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80" b="1" i="0" dirty="0">
                <a:solidFill>
                  <a:srgbClr val="1C1452"/>
                </a:solidFill>
                <a:latin typeface="Aptos"/>
              </a:rPr>
              <a:t>+0.42 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5719286"/>
            <a:ext cx="2258568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35E7E"/>
                </a:solidFill>
                <a:latin typeface="Aptos"/>
              </a:rPr>
              <a:t>Cooking Essentials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44952" y="5746718"/>
            <a:ext cx="3977640" cy="99783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3044952" y="5746718"/>
            <a:ext cx="0" cy="99783"/>
          </a:xfrm>
          <a:prstGeom prst="roundRect">
            <a:avLst/>
          </a:prstGeom>
          <a:solidFill>
            <a:srgbClr val="E72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050024" y="5710142"/>
            <a:ext cx="468000" cy="1940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80" b="1" i="0" dirty="0">
                <a:solidFill>
                  <a:srgbClr val="1C1452"/>
                </a:solidFill>
                <a:latin typeface="Aptos"/>
              </a:rPr>
              <a:t>-0.45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80960" y="1755648"/>
            <a:ext cx="3337560" cy="4434840"/>
          </a:xfrm>
          <a:prstGeom prst="roundRect">
            <a:avLst/>
          </a:prstGeom>
          <a:solidFill>
            <a:srgbClr val="F1EA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955279" y="2075688"/>
            <a:ext cx="141732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 dirty="0">
                <a:solidFill>
                  <a:srgbClr val="E72380"/>
                </a:solidFill>
                <a:latin typeface="Aptos"/>
              </a:rPr>
              <a:t>HIGHEST GAP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2542032"/>
            <a:ext cx="1828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C1452"/>
                </a:solidFill>
                <a:latin typeface="Aptos"/>
              </a:rPr>
              <a:t>+7.83 pp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3090672"/>
            <a:ext cx="22402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635E7E"/>
                </a:solidFill>
                <a:latin typeface="Aptos"/>
              </a:rPr>
              <a:t>Fruits &amp; Vegetables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3611880"/>
            <a:ext cx="233172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70" b="0" i="0" dirty="0">
                <a:solidFill>
                  <a:srgbClr val="1C1452"/>
                </a:solidFill>
                <a:latin typeface="Aptos"/>
              </a:rPr>
              <a:t>Meats, Fish &amp; Eggs </a:t>
            </a:r>
            <a:r>
              <a:rPr sz="1100" b="0" i="0" dirty="0">
                <a:solidFill>
                  <a:srgbClr val="1C1452"/>
                </a:solidFill>
                <a:latin typeface="Aptos"/>
              </a:rPr>
              <a:t>follows</a:t>
            </a:r>
            <a:r>
              <a:rPr sz="1070" b="0" i="0" dirty="0">
                <a:solidFill>
                  <a:srgbClr val="1C1452"/>
                </a:solidFill>
                <a:latin typeface="Aptos"/>
              </a:rPr>
              <a:t> at +3.40 pp.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4279392"/>
            <a:ext cx="233172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30" b="0" i="0" dirty="0">
                <a:solidFill>
                  <a:srgbClr val="635E7E"/>
                </a:solidFill>
                <a:latin typeface="Aptos"/>
              </a:rPr>
              <a:t>The remaining above-average categories are visible in </a:t>
            </a:r>
            <a:r>
              <a:rPr sz="1050" b="0" i="0" dirty="0">
                <a:solidFill>
                  <a:srgbClr val="635E7E"/>
                </a:solidFill>
                <a:latin typeface="Aptos"/>
              </a:rPr>
              <a:t>the</a:t>
            </a:r>
            <a:r>
              <a:rPr sz="1030" b="0" i="0" dirty="0">
                <a:solidFill>
                  <a:srgbClr val="635E7E"/>
                </a:solidFill>
                <a:latin typeface="Aptos"/>
              </a:rPr>
              <a:t> supplied SQL output.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55279" y="5120640"/>
            <a:ext cx="1371600" cy="329184"/>
          </a:xfrm>
          <a:prstGeom prst="roundRect">
            <a:avLst/>
          </a:prstGeom>
          <a:solidFill>
            <a:srgbClr val="FFE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01000" y="5166359"/>
            <a:ext cx="128016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E72380"/>
                </a:solidFill>
                <a:latin typeface="Aptos"/>
              </a:rPr>
              <a:t>Category vs platform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54112" y="5532120"/>
            <a:ext cx="318312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dyn_sql_185023.png"/>
          <p:cNvPicPr>
            <a:picLocks noChangeAspect="1"/>
          </p:cNvPicPr>
          <p:nvPr/>
        </p:nvPicPr>
        <p:blipFill>
          <a:blip r:embed="rId2"/>
          <a:srcRect l="4054" t="6250" r="34304" b="6250"/>
          <a:stretch>
            <a:fillRect/>
          </a:stretch>
        </p:blipFill>
        <p:spPr>
          <a:xfrm>
            <a:off x="7956000" y="5587365"/>
            <a:ext cx="2427520" cy="504000"/>
          </a:xfrm>
          <a:prstGeom prst="rect">
            <a:avLst/>
          </a:prstGeom>
        </p:spPr>
      </p:pic>
      <p:pic>
        <p:nvPicPr>
          <p:cNvPr id="50" name="Picture 49" descr="zepto_logo_light_theme.png">
            <a:extLst>
              <a:ext uri="{FF2B5EF4-FFF2-40B4-BE49-F238E27FC236}">
                <a16:creationId xmlns:a16="http://schemas.microsoft.com/office/drawing/2014/main" id="{1F644C49-1FBB-F009-B598-8D8FA3D7E4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61" r="14652"/>
          <a:stretch>
            <a:fillRect/>
          </a:stretch>
        </p:blipFill>
        <p:spPr>
          <a:xfrm>
            <a:off x="10716768" y="182880"/>
            <a:ext cx="936000" cy="43641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28600"/>
            <a:ext cx="338328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E72380"/>
                </a:solidFill>
                <a:latin typeface="Aptos"/>
              </a:rPr>
              <a:t>08 •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96012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C1452"/>
                </a:solidFill>
                <a:latin typeface="Aptos"/>
              </a:rPr>
              <a:t>Combine metrics instead of reading them in isolation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0816" y="6428232"/>
            <a:ext cx="43891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35E7E"/>
                </a:solidFill>
                <a:latin typeface="Aptos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50749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011680"/>
            <a:ext cx="182880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 dirty="0">
                <a:solidFill>
                  <a:srgbClr val="E72380"/>
                </a:solidFill>
                <a:latin typeface="Aptos"/>
              </a:rPr>
              <a:t>CROSS-METRIC FILTER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578608"/>
            <a:ext cx="29260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C1452"/>
                </a:solidFill>
                <a:latin typeface="Aptos"/>
              </a:rPr>
              <a:t>Above-average discount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999232"/>
            <a:ext cx="91440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72380"/>
                </a:solidFill>
                <a:latin typeface="Aptos"/>
              </a:rPr>
              <a:t>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401568"/>
            <a:ext cx="29260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C1452"/>
                </a:solidFill>
                <a:latin typeface="Aptos"/>
              </a:rPr>
              <a:t>Above-average OOS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3977639"/>
            <a:ext cx="1554480" cy="329184"/>
          </a:xfrm>
          <a:prstGeom prst="roundRect">
            <a:avLst/>
          </a:prstGeom>
          <a:solidFill>
            <a:srgbClr val="E7F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8408" y="4038401"/>
            <a:ext cx="1463039" cy="1985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b="1" i="0" dirty="0">
                <a:solidFill>
                  <a:srgbClr val="6930A0"/>
                </a:solidFill>
                <a:latin typeface="Aptos"/>
              </a:rPr>
              <a:t>3 categories </a:t>
            </a:r>
            <a:r>
              <a:rPr sz="1050" b="1" i="0" dirty="0">
                <a:solidFill>
                  <a:srgbClr val="6930A0"/>
                </a:solidFill>
                <a:latin typeface="Aptos"/>
              </a:rPr>
              <a:t>returned</a:t>
            </a:r>
            <a:endParaRPr sz="950" b="1" i="0" dirty="0">
              <a:solidFill>
                <a:srgbClr val="6930A0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0120" y="4553712"/>
            <a:ext cx="356616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 dirty="0">
                <a:solidFill>
                  <a:srgbClr val="635E7E"/>
                </a:solidFill>
                <a:latin typeface="Aptos"/>
              </a:rPr>
              <a:t>• Meats, Fish &amp; Eggs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937760"/>
            <a:ext cx="356616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35E7E"/>
                </a:solidFill>
                <a:latin typeface="Aptos"/>
              </a:rPr>
              <a:t>• Biscuits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321808"/>
            <a:ext cx="356616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635E7E"/>
                </a:solidFill>
                <a:latin typeface="Aptos"/>
              </a:rPr>
              <a:t>• Health &amp; Hygiene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169164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989320" y="3840480"/>
            <a:ext cx="5074920" cy="2286000"/>
          </a:xfrm>
          <a:prstGeom prst="roundRect">
            <a:avLst/>
          </a:prstGeom>
          <a:solidFill>
            <a:srgbClr val="FFE5E6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51120" y="3950208"/>
            <a:ext cx="22860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 dirty="0">
                <a:solidFill>
                  <a:srgbClr val="E72380"/>
                </a:solidFill>
                <a:latin typeface="Aptos"/>
              </a:rPr>
              <a:t>STRATEGIC PRIORITY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1120" y="4137660"/>
            <a:ext cx="29260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 dirty="0">
                <a:solidFill>
                  <a:srgbClr val="1C1452"/>
                </a:solidFill>
                <a:latin typeface="Aptos"/>
              </a:rPr>
              <a:t>Promotion + inventory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453129"/>
            <a:ext cx="3383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 dirty="0">
                <a:solidFill>
                  <a:srgbClr val="635E7E"/>
                </a:solidFill>
                <a:latin typeface="Aptos"/>
              </a:rPr>
              <a:t>Biscuits • Meats, Fish &amp; Eggs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4000" y="4656817"/>
            <a:ext cx="420624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19" b="0" i="0" dirty="0">
                <a:solidFill>
                  <a:srgbClr val="1C1452"/>
                </a:solidFill>
                <a:latin typeface="Aptos"/>
              </a:rPr>
              <a:t>Several other categories are classified as high inventory exposure in the supplied result.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5024630"/>
            <a:ext cx="5074920" cy="1193290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EBC5034-39F3-FF7F-2470-0D447E7280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52" t="54974" r="31032" b="-264"/>
          <a:stretch>
            <a:fillRect/>
          </a:stretch>
        </p:blipFill>
        <p:spPr>
          <a:xfrm>
            <a:off x="6264000" y="1750059"/>
            <a:ext cx="4546240" cy="181609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8FD765D-DC4F-DD93-1EB9-BC0ACF44C4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96" t="49266" r="10390" b="3675"/>
          <a:stretch>
            <a:fillRect/>
          </a:stretch>
        </p:blipFill>
        <p:spPr>
          <a:xfrm>
            <a:off x="6120000" y="5040865"/>
            <a:ext cx="4752000" cy="1152000"/>
          </a:xfrm>
          <a:prstGeom prst="rect">
            <a:avLst/>
          </a:prstGeom>
        </p:spPr>
      </p:pic>
      <p:pic>
        <p:nvPicPr>
          <p:cNvPr id="24" name="Picture 23" descr="zepto_logo_light_theme.png">
            <a:extLst>
              <a:ext uri="{FF2B5EF4-FFF2-40B4-BE49-F238E27FC236}">
                <a16:creationId xmlns:a16="http://schemas.microsoft.com/office/drawing/2014/main" id="{5C46735B-692A-2212-C642-B9DC0B8A25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61" r="14652"/>
          <a:stretch>
            <a:fillRect/>
          </a:stretch>
        </p:blipFill>
        <p:spPr>
          <a:xfrm>
            <a:off x="10716768" y="182880"/>
            <a:ext cx="936000" cy="43641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28600"/>
            <a:ext cx="338328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E72380"/>
                </a:solidFill>
                <a:latin typeface="Aptos"/>
              </a:rPr>
              <a:t>09 •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96012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C1452"/>
                </a:solidFill>
                <a:latin typeface="Aptos"/>
              </a:rPr>
              <a:t>What the project demonstrates technically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0816" y="6428232"/>
            <a:ext cx="43891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35E7E"/>
                </a:solidFill>
                <a:latin typeface="Aptos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3246120" cy="1417320"/>
          </a:xfrm>
          <a:prstGeom prst="roundRect">
            <a:avLst/>
          </a:prstGeom>
          <a:solidFill>
            <a:srgbClr val="F1EA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86968" y="1892808"/>
            <a:ext cx="530352" cy="530352"/>
          </a:xfrm>
          <a:prstGeom prst="ellipse">
            <a:avLst/>
          </a:prstGeom>
          <a:solidFill>
            <a:srgbClr val="FFE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2035142"/>
            <a:ext cx="530352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 i="0" dirty="0">
                <a:solidFill>
                  <a:srgbClr val="E72380"/>
                </a:solidFill>
                <a:latin typeface="Aptos"/>
              </a:rPr>
              <a:t>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1056" y="1874519"/>
            <a:ext cx="19659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1C1452"/>
                </a:solidFill>
                <a:latin typeface="Aptos"/>
              </a:rPr>
              <a:t>CASE WHEN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267712"/>
            <a:ext cx="196596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 dirty="0">
                <a:solidFill>
                  <a:srgbClr val="635E7E"/>
                </a:solidFill>
                <a:latin typeface="Aptos"/>
              </a:rPr>
              <a:t>Classification &amp; business logic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6459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44568" y="1892808"/>
            <a:ext cx="530352" cy="530352"/>
          </a:xfrm>
          <a:prstGeom prst="ellipse">
            <a:avLst/>
          </a:prstGeom>
          <a:solidFill>
            <a:srgbClr val="FFE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2035142"/>
            <a:ext cx="530352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 i="0" dirty="0">
                <a:solidFill>
                  <a:srgbClr val="E72380"/>
                </a:solidFill>
                <a:latin typeface="Aptos"/>
              </a:rPr>
              <a:t>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48656" y="1874519"/>
            <a:ext cx="19659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1C1452"/>
                </a:solidFill>
                <a:latin typeface="Aptos"/>
              </a:rPr>
              <a:t>GROUP 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8656" y="2267712"/>
            <a:ext cx="196596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 dirty="0">
                <a:solidFill>
                  <a:srgbClr val="635E7E"/>
                </a:solidFill>
                <a:latin typeface="Aptos"/>
              </a:rPr>
              <a:t>Category-level aggregation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8" y="1645920"/>
            <a:ext cx="3246120" cy="1417320"/>
          </a:xfrm>
          <a:prstGeom prst="roundRect">
            <a:avLst/>
          </a:prstGeom>
          <a:solidFill>
            <a:srgbClr val="F1EA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02168" y="1892808"/>
            <a:ext cx="530352" cy="530352"/>
          </a:xfrm>
          <a:prstGeom prst="ellipse">
            <a:avLst/>
          </a:prstGeom>
          <a:solidFill>
            <a:srgbClr val="FFE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02168" y="2035142"/>
            <a:ext cx="530352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 i="0" dirty="0">
                <a:solidFill>
                  <a:srgbClr val="E72380"/>
                </a:solidFill>
                <a:latin typeface="Aptos"/>
              </a:rPr>
              <a:t>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6256" y="1874519"/>
            <a:ext cx="19659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1C1452"/>
                </a:solidFill>
                <a:latin typeface="Aptos"/>
              </a:rPr>
              <a:t>CTEs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6256" y="2267712"/>
            <a:ext cx="196596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 dirty="0">
                <a:solidFill>
                  <a:srgbClr val="635E7E"/>
                </a:solidFill>
                <a:latin typeface="Aptos"/>
              </a:rPr>
              <a:t>Readable multi-step logic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4747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86968" y="3721608"/>
            <a:ext cx="530352" cy="530352"/>
          </a:xfrm>
          <a:prstGeom prst="ellipse">
            <a:avLst/>
          </a:prstGeom>
          <a:solidFill>
            <a:srgbClr val="FFE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6968" y="3863941"/>
            <a:ext cx="530352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 i="0" dirty="0">
                <a:solidFill>
                  <a:srgbClr val="E72380"/>
                </a:solidFill>
                <a:latin typeface="Aptos"/>
              </a:rPr>
              <a:t>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1056" y="3703320"/>
            <a:ext cx="19659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1C1452"/>
                </a:solidFill>
                <a:latin typeface="Aptos"/>
              </a:rPr>
              <a:t>Subqueries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91056" y="4096511"/>
            <a:ext cx="196596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 dirty="0">
                <a:solidFill>
                  <a:srgbClr val="635E7E"/>
                </a:solidFill>
                <a:latin typeface="Aptos"/>
              </a:rPr>
              <a:t>Nested business calculations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15968" y="3474720"/>
            <a:ext cx="3246120" cy="1417320"/>
          </a:xfrm>
          <a:prstGeom prst="roundRect">
            <a:avLst/>
          </a:prstGeom>
          <a:solidFill>
            <a:srgbClr val="F1EA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44568" y="3721608"/>
            <a:ext cx="530352" cy="530352"/>
          </a:xfrm>
          <a:prstGeom prst="ellipse">
            <a:avLst/>
          </a:prstGeom>
          <a:solidFill>
            <a:srgbClr val="FFE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44568" y="3863941"/>
            <a:ext cx="530352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 i="0" dirty="0">
                <a:solidFill>
                  <a:srgbClr val="E72380"/>
                </a:solidFill>
                <a:latin typeface="Aptos"/>
              </a:rPr>
              <a:t>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48656" y="3703320"/>
            <a:ext cx="19659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1C1452"/>
                </a:solidFill>
                <a:latin typeface="Aptos"/>
              </a:rPr>
              <a:t>Window functions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48656" y="4096511"/>
            <a:ext cx="196596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 dirty="0">
                <a:solidFill>
                  <a:srgbClr val="635E7E"/>
                </a:solidFill>
                <a:latin typeface="Aptos"/>
              </a:rPr>
              <a:t>Rank &amp; compare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73568" y="34747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202168" y="3721608"/>
            <a:ext cx="530352" cy="530352"/>
          </a:xfrm>
          <a:prstGeom prst="ellipse">
            <a:avLst/>
          </a:prstGeom>
          <a:solidFill>
            <a:srgbClr val="FFE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02168" y="3863941"/>
            <a:ext cx="530352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 i="0" dirty="0">
                <a:solidFill>
                  <a:srgbClr val="E72380"/>
                </a:solidFill>
                <a:latin typeface="Aptos"/>
              </a:rPr>
              <a:t>SQL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3703320"/>
            <a:ext cx="19659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1C1452"/>
                </a:solidFill>
                <a:latin typeface="Aptos"/>
              </a:rPr>
              <a:t>Conditional aggregation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06256" y="4096511"/>
            <a:ext cx="196596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 dirty="0">
                <a:solidFill>
                  <a:srgbClr val="635E7E"/>
                </a:solidFill>
                <a:latin typeface="Aptos"/>
              </a:rPr>
              <a:t>KPI rates &amp; counts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5532120"/>
            <a:ext cx="2514600" cy="329184"/>
          </a:xfrm>
          <a:prstGeom prst="roundRect">
            <a:avLst/>
          </a:prstGeom>
          <a:solidFill>
            <a:srgbClr val="FFE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5592882"/>
            <a:ext cx="2423160" cy="1985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50" b="1" i="0" dirty="0">
                <a:solidFill>
                  <a:srgbClr val="E72380"/>
                </a:solidFill>
                <a:latin typeface="Aptos"/>
              </a:rPr>
              <a:t>Analytical SQL • not just data retrieval</a:t>
            </a:r>
          </a:p>
        </p:txBody>
      </p:sp>
      <p:pic>
        <p:nvPicPr>
          <p:cNvPr id="39" name="Picture 38" descr="zepto_logo_light_theme.png">
            <a:extLst>
              <a:ext uri="{FF2B5EF4-FFF2-40B4-BE49-F238E27FC236}">
                <a16:creationId xmlns:a16="http://schemas.microsoft.com/office/drawing/2014/main" id="{594BD237-424A-B917-7D74-0943B50AEB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61" r="14652"/>
          <a:stretch>
            <a:fillRect/>
          </a:stretch>
        </p:blipFill>
        <p:spPr>
          <a:xfrm>
            <a:off x="10716768" y="182880"/>
            <a:ext cx="936000" cy="43641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28600"/>
            <a:ext cx="338328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E72380"/>
                </a:solidFill>
                <a:latin typeface="Aptos"/>
              </a:rPr>
              <a:t>10 •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96012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C1452"/>
                </a:solidFill>
                <a:latin typeface="Aptos"/>
              </a:rPr>
              <a:t>From query outputs to business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0816" y="6428232"/>
            <a:ext cx="43891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35E7E"/>
                </a:solidFill>
                <a:latin typeface="Aptos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5029200" cy="1463040"/>
          </a:xfrm>
          <a:prstGeom prst="roundRect">
            <a:avLst/>
          </a:prstGeom>
          <a:solidFill>
            <a:srgbClr val="F1EA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13716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 dirty="0">
                <a:solidFill>
                  <a:srgbClr val="E72380"/>
                </a:solidFill>
                <a:latin typeface="Aptos"/>
              </a:rPr>
              <a:t>Pricing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245" y="2331720"/>
            <a:ext cx="4739149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 dirty="0">
                <a:solidFill>
                  <a:srgbClr val="1C1452"/>
                </a:solidFill>
                <a:latin typeface="Aptos"/>
              </a:rPr>
              <a:t>Discount bands reveal how savings change with promotional depth.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691640"/>
            <a:ext cx="5029200" cy="1463040"/>
          </a:xfrm>
          <a:prstGeom prst="roundRect">
            <a:avLst/>
          </a:prstGeom>
          <a:solidFill>
            <a:srgbClr val="E7F9E2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901952"/>
            <a:ext cx="13716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 dirty="0">
                <a:solidFill>
                  <a:srgbClr val="6930A0"/>
                </a:solidFill>
                <a:latin typeface="Aptos"/>
              </a:rPr>
              <a:t>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3891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 dirty="0">
                <a:solidFill>
                  <a:srgbClr val="1C1452"/>
                </a:solidFill>
                <a:latin typeface="Aptos"/>
              </a:rPr>
              <a:t>₹/100g creates a fairer comparison across pack sizes.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566160"/>
            <a:ext cx="5029200" cy="1463040"/>
          </a:xfrm>
          <a:prstGeom prst="roundRect">
            <a:avLst/>
          </a:prstGeom>
          <a:solidFill>
            <a:srgbClr val="FFE5E6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776472"/>
            <a:ext cx="13716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 dirty="0">
                <a:solidFill>
                  <a:srgbClr val="E72380"/>
                </a:solidFill>
                <a:latin typeface="Aptos"/>
              </a:rPr>
              <a:t>Inventory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43891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 dirty="0">
                <a:solidFill>
                  <a:srgbClr val="1C1452"/>
                </a:solidFill>
                <a:latin typeface="Aptos"/>
              </a:rPr>
              <a:t>OOS and inventory value reveal different types of exposure.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3566160"/>
            <a:ext cx="5029200" cy="1463040"/>
          </a:xfrm>
          <a:prstGeom prst="roundRect">
            <a:avLst/>
          </a:prstGeom>
          <a:solidFill>
            <a:srgbClr val="F1EA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3776472"/>
            <a:ext cx="13716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 dirty="0">
                <a:solidFill>
                  <a:srgbClr val="6930A0"/>
                </a:solidFill>
                <a:latin typeface="Aptos"/>
              </a:rPr>
              <a:t>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06240"/>
            <a:ext cx="438912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 dirty="0">
                <a:solidFill>
                  <a:srgbClr val="1C1452"/>
                </a:solidFill>
                <a:latin typeface="Aptos"/>
              </a:rPr>
              <a:t>Cross-metric filters create focused review lists.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532120"/>
            <a:ext cx="105156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5687568"/>
            <a:ext cx="100584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1" i="0" dirty="0">
                <a:solidFill>
                  <a:srgbClr val="E72380"/>
                </a:solidFill>
                <a:latin typeface="Aptos"/>
              </a:rPr>
              <a:t>The portfolio story: SQL → evidence → interpretation → action.</a:t>
            </a:r>
          </a:p>
        </p:txBody>
      </p:sp>
      <p:pic>
        <p:nvPicPr>
          <p:cNvPr id="21" name="Picture 20" descr="zepto_logo_light_theme.png">
            <a:extLst>
              <a:ext uri="{FF2B5EF4-FFF2-40B4-BE49-F238E27FC236}">
                <a16:creationId xmlns:a16="http://schemas.microsoft.com/office/drawing/2014/main" id="{71DAB905-B6A7-278D-390C-BF3DD457DE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61" r="14652"/>
          <a:stretch>
            <a:fillRect/>
          </a:stretch>
        </p:blipFill>
        <p:spPr>
          <a:xfrm>
            <a:off x="10716768" y="182880"/>
            <a:ext cx="936000" cy="43641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138160" y="-731520"/>
            <a:ext cx="4572000" cy="3474720"/>
          </a:xfrm>
          <a:prstGeom prst="ellipse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5486400"/>
            <a:ext cx="3474720" cy="1828800"/>
          </a:xfrm>
          <a:prstGeom prst="ellipse">
            <a:avLst/>
          </a:prstGeom>
          <a:solidFill>
            <a:srgbClr val="FFE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38404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100" b="1" i="0">
                <a:solidFill>
                  <a:srgbClr val="1C1452"/>
                </a:solidFill>
                <a:latin typeface="Aptos"/>
              </a:rPr>
              <a:t>RAJ SINGH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75104"/>
            <a:ext cx="47548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6930A0"/>
                </a:solidFill>
                <a:latin typeface="Aptos"/>
              </a:rPr>
              <a:t>Data Analyst • SQL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42032"/>
            <a:ext cx="548640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 i="0" dirty="0">
                <a:solidFill>
                  <a:srgbClr val="635E7E"/>
                </a:solidFill>
                <a:latin typeface="Aptos"/>
              </a:rPr>
              <a:t>I designed and developed this </a:t>
            </a:r>
            <a:r>
              <a:rPr sz="1500" b="0" i="0" dirty="0" err="1">
                <a:solidFill>
                  <a:srgbClr val="635E7E"/>
                </a:solidFill>
                <a:latin typeface="Aptos"/>
              </a:rPr>
              <a:t>Zepto</a:t>
            </a:r>
            <a:r>
              <a:rPr sz="1500" b="0" i="0" dirty="0">
                <a:solidFill>
                  <a:srgbClr val="635E7E"/>
                </a:solidFill>
                <a:latin typeface="Aptos"/>
              </a:rPr>
              <a:t> analysis project to demonstrate practical SQL, data quality discipline and business-oriented thinking.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703320"/>
            <a:ext cx="868680" cy="329184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3767928"/>
            <a:ext cx="777240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 i="0" dirty="0">
                <a:solidFill>
                  <a:srgbClr val="6930A0"/>
                </a:solidFill>
                <a:latin typeface="Aptos"/>
              </a:rPr>
              <a:t>MySQL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64208" y="3703320"/>
            <a:ext cx="960120" cy="329184"/>
          </a:xfrm>
          <a:prstGeom prst="roundRect">
            <a:avLst/>
          </a:prstGeom>
          <a:solidFill>
            <a:srgbClr val="FFE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09928" y="3767928"/>
            <a:ext cx="868680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 i="0" dirty="0">
                <a:solidFill>
                  <a:srgbClr val="E72380"/>
                </a:solidFill>
                <a:latin typeface="Aptos"/>
              </a:rPr>
              <a:t>Power BI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61488" y="3703320"/>
            <a:ext cx="960120" cy="329184"/>
          </a:xfrm>
          <a:prstGeom prst="roundRect">
            <a:avLst/>
          </a:prstGeom>
          <a:solidFill>
            <a:srgbClr val="E7F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07208" y="3767928"/>
            <a:ext cx="868680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 i="0" dirty="0">
                <a:solidFill>
                  <a:srgbClr val="6930A0"/>
                </a:solidFill>
                <a:latin typeface="Aptos"/>
              </a:rPr>
              <a:t>Python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58768" y="3703320"/>
            <a:ext cx="841248" cy="329184"/>
          </a:xfrm>
          <a:prstGeom prst="roundRect">
            <a:avLst/>
          </a:prstGeom>
          <a:solidFill>
            <a:srgbClr val="F1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04487" y="3767928"/>
            <a:ext cx="749808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 i="0" dirty="0">
                <a:solidFill>
                  <a:srgbClr val="6930A0"/>
                </a:solidFill>
                <a:latin typeface="Aptos"/>
              </a:rPr>
              <a:t>Excel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1600200"/>
            <a:ext cx="33375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1D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45552" y="1901952"/>
            <a:ext cx="18288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E72380"/>
                </a:solidFill>
                <a:latin typeface="Aptos"/>
              </a:rPr>
              <a:t>PROJECT FOCUS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2395728"/>
            <a:ext cx="2560320" cy="1463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C1452"/>
                </a:solidFill>
                <a:latin typeface="Aptos"/>
              </a:rPr>
              <a:t>Pricing
Customer Value
Inventory
Category Strategy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4160520"/>
            <a:ext cx="1783080" cy="329184"/>
          </a:xfrm>
          <a:prstGeom prst="roundRect">
            <a:avLst/>
          </a:prstGeom>
          <a:solidFill>
            <a:srgbClr val="BCE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4225129"/>
            <a:ext cx="1691639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 i="0" dirty="0">
                <a:solidFill>
                  <a:srgbClr val="1C1452"/>
                </a:solidFill>
                <a:latin typeface="Aptos"/>
              </a:rPr>
              <a:t>Thank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089904"/>
            <a:ext cx="365760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 dirty="0" err="1">
                <a:solidFill>
                  <a:srgbClr val="635E7E"/>
                </a:solidFill>
                <a:latin typeface="Aptos"/>
              </a:rPr>
              <a:t>Zepto</a:t>
            </a:r>
            <a:r>
              <a:rPr sz="1100" b="1" i="0" dirty="0">
                <a:solidFill>
                  <a:srgbClr val="635E7E"/>
                </a:solidFill>
                <a:latin typeface="Aptos"/>
              </a:rPr>
              <a:t> SQL Portfolio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0816" y="6428232"/>
            <a:ext cx="43891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35E7E"/>
                </a:solidFill>
                <a:latin typeface="Aptos"/>
              </a:rPr>
              <a:t>22</a:t>
            </a:r>
          </a:p>
        </p:txBody>
      </p:sp>
      <p:pic>
        <p:nvPicPr>
          <p:cNvPr id="26" name="Picture 25" descr="zepto_logo_light_theme.png">
            <a:extLst>
              <a:ext uri="{FF2B5EF4-FFF2-40B4-BE49-F238E27FC236}">
                <a16:creationId xmlns:a16="http://schemas.microsoft.com/office/drawing/2014/main" id="{89EF2660-25C0-A71C-4A02-428F1F1B64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43" t="8587" r="13046" b="8587"/>
          <a:stretch>
            <a:fillRect/>
          </a:stretch>
        </p:blipFill>
        <p:spPr>
          <a:xfrm>
            <a:off x="640080" y="438912"/>
            <a:ext cx="1508760" cy="685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1297</Words>
  <Application>Microsoft Office PowerPoint</Application>
  <PresentationFormat>Widescreen</PresentationFormat>
  <Paragraphs>432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raj singh</dc:creator>
  <cp:keywords/>
  <dc:description>generated using python-pptx</dc:description>
  <cp:lastModifiedBy>Raj Singh</cp:lastModifiedBy>
  <cp:revision>4</cp:revision>
  <dcterms:created xsi:type="dcterms:W3CDTF">2013-01-27T09:14:16Z</dcterms:created>
  <dcterms:modified xsi:type="dcterms:W3CDTF">2026-09-19T05:03:32Z</dcterms:modified>
  <cp:category/>
</cp:coreProperties>
</file>